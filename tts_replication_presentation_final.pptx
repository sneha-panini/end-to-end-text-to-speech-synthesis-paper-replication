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13D"/>
                </a:solidFill>
                <a:latin typeface="+mn-lt"/>
              </a:defRPr>
            </a:pPr>
            <a:r>
              <a:rPr lang="en-US" sz="1200" b="0" i="0" u="none" strike="noStrike">
                <a:solidFill>
                  <a:srgbClr val="14213D"/>
                </a:solidFill>
                <a:latin typeface="+mn-lt"/>
              </a:rPr>
              <a:t>Dev MSE (×10⁻⁶), lower is better</a:t>
            </a:r>
          </a:p>
        </c:rich>
      </c:tx>
      <c:overlay val="0"/>
    </c:title>
    <c:autoTitleDeleted val="0"/>
    <c:plotArea>
      <c:layout/>
      <c:barChart>
        <c:barDir val="col"/>
        <c:grouping val="clustered"/>
        <c:varyColors val="0"/>
        <c:ser>
          <c:idx val="0"/>
          <c:order val="0"/>
          <c:tx>
            <c:strRef>
              <c:f>Sheet1!$B$1</c:f>
              <c:strCache>
                <c:ptCount val="1"/>
                <c:pt idx="0">
                  <c:v>Dev MSE (x1e-6)</c:v>
                </c:pt>
              </c:strCache>
            </c:strRef>
          </c:tx>
          <c:spPr>
            <a:solidFill>
              <a:srgbClr val="6B7A90"/>
            </a:solidFill>
            <a:effectLst/>
          </c:spPr>
          <c:invertIfNegative val="0"/>
          <c:dPt>
            <c:idx val="0"/>
            <c:invertIfNegative val="0"/>
            <c:bubble3D val="0"/>
            <c:extLst>
              <c:ext xmlns:c16="http://schemas.microsoft.com/office/drawing/2014/chart" uri="{C3380CC4-5D6E-409C-BE32-E72D297353CC}">
                <c16:uniqueId val="{00000001-AA13-4E6E-A324-92E134EF2CB1}"/>
              </c:ext>
            </c:extLst>
          </c:dPt>
          <c:dPt>
            <c:idx val="1"/>
            <c:invertIfNegative val="0"/>
            <c:bubble3D val="0"/>
            <c:spPr>
              <a:solidFill>
                <a:srgbClr val="0FA3B1"/>
              </a:solidFill>
              <a:effectLst/>
            </c:spPr>
            <c:extLst>
              <c:ext xmlns:c16="http://schemas.microsoft.com/office/drawing/2014/chart" uri="{C3380CC4-5D6E-409C-BE32-E72D297353CC}">
                <c16:uniqueId val="{00000003-AA13-4E6E-A324-92E134EF2CB1}"/>
              </c:ext>
            </c:extLst>
          </c:dPt>
          <c:dPt>
            <c:idx val="2"/>
            <c:invertIfNegative val="0"/>
            <c:bubble3D val="0"/>
            <c:spPr>
              <a:solidFill>
                <a:srgbClr val="0FA3B1"/>
              </a:solidFill>
              <a:effectLst/>
            </c:spPr>
            <c:extLst>
              <c:ext xmlns:c16="http://schemas.microsoft.com/office/drawing/2014/chart" uri="{C3380CC4-5D6E-409C-BE32-E72D297353CC}">
                <c16:uniqueId val="{00000005-AA13-4E6E-A324-92E134EF2CB1}"/>
              </c:ext>
            </c:extLst>
          </c:dPt>
          <c:dPt>
            <c:idx val="3"/>
            <c:invertIfNegative val="0"/>
            <c:bubble3D val="0"/>
            <c:spPr>
              <a:solidFill>
                <a:srgbClr val="0FA3B1"/>
              </a:solidFill>
              <a:effectLst/>
            </c:spPr>
            <c:extLst>
              <c:ext xmlns:c16="http://schemas.microsoft.com/office/drawing/2014/chart" uri="{C3380CC4-5D6E-409C-BE32-E72D297353CC}">
                <c16:uniqueId val="{00000007-AA13-4E6E-A324-92E134EF2CB1}"/>
              </c:ext>
            </c:extLst>
          </c:dPt>
          <c:dLbls>
            <c:numFmt formatCode="0.0" sourceLinked="0"/>
            <c:spPr>
              <a:noFill/>
              <a:ln>
                <a:noFill/>
              </a:ln>
              <a:effectLst/>
            </c:spPr>
            <c:txPr>
              <a:bodyPr/>
              <a:lstStyle/>
              <a:p>
                <a:pPr>
                  <a:defRPr sz="11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All zeros</c:v>
                </c:pt>
                <c:pt idx="1">
                  <c:v>SVR</c:v>
                </c:pt>
                <c:pt idx="2">
                  <c:v>NN</c:v>
                </c:pt>
                <c:pt idx="3">
                  <c:v>Seq2Seq</c:v>
                </c:pt>
              </c:strCache>
            </c:strRef>
          </c:cat>
          <c:val>
            <c:numRef>
              <c:f>Sheet1!$B$2:$B$5</c:f>
              <c:numCache>
                <c:formatCode>General</c:formatCode>
                <c:ptCount val="4"/>
                <c:pt idx="0">
                  <c:v>2.37</c:v>
                </c:pt>
                <c:pt idx="1">
                  <c:v>30.6</c:v>
                </c:pt>
                <c:pt idx="2">
                  <c:v>8.57</c:v>
                </c:pt>
                <c:pt idx="3">
                  <c:v>2.42</c:v>
                </c:pt>
              </c:numCache>
            </c:numRef>
          </c:val>
          <c:extLst>
            <c:ext xmlns:c16="http://schemas.microsoft.com/office/drawing/2014/chart" uri="{C3380CC4-5D6E-409C-BE32-E72D297353CC}">
              <c16:uniqueId val="{00000008-AA13-4E6E-A324-92E134EF2CB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530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Fill in team names and date. Credit the original authors.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TTS chains several hand-built stages. End-to-end systems (Tacotron, Char2Wav, Deep Voice) learn the mapping in one model. We ask how far simple models and a small Seq2Seq can get.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MOS from 10 Stanford students: SVR 1.0, NN 1.7, Seq2Seq 2.5. Tacotron's 3.82 is quoted from the Tacotron paper for reference.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sentences are drawn at random with seed 42, skipping clips longer than 5 s: 200 train, 20 dev. The dataset itself is not in the repo.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is looked up in the CMU dictionary and, with probability 0.5, mapped to phonemes; otherwise letters. The mapping is random and recomputed every run, as in the paper.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 filter (101 taps, 8 kHz low-pass) then STFT with a 2048-point window gives 1025 bins. Only the magnitude is kept, so phase is discarded. Figure from the notebook (one training clip).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SVR: one regressor per time step and frequency bin, trained on CPU (88 s in our run). NN: 39.6M parameters, 38 s. Seq2Seq: 93 s on a T4.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magnitude is predicted, so the inverse STFT has zero phase. Even the real clip pushed through this pipeline sounds buzzy and robotic, which sets the ceiling for every model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 from 5 listeners (ratings dict in the notebook). Ordering SVR &lt; NN &lt; Seq2Seq matches the paper, but gaps are small with n = 5, so we do not claim the same numbers. Top: real vs SVR vs NN vs Seq2Seq on a training sentence. Bottom left: training loss (MSE) per epoch.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MSE (x1e-6) from the notebook: all-zeros 2.37, SVR 30.6, NN 8.57, Seq2Seq free-running 2.42. Amplitudes are tiny, so a small training loss is misleading: no model beats predicting zeros.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does not specify many details; every choice here is ours and is listed in the notebook's assumptions 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team contributions. Credit the original authors.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731520"/>
          </a:xfrm>
          <a:prstGeom prst="rect">
            <a:avLst/>
          </a:prstGeom>
          <a:noFill/>
          <a:ln/>
        </p:spPr>
        <p:txBody>
          <a:bodyPr wrap="square" rtlCol="0"/>
          <a:lstStyle>
            <a:lvl1pPr marL="0" indent="0" algn="l">
              <a:buNone/>
              <a:defRPr lang="en-US" sz="3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271" y="1136846"/>
            <a:ext cx="8046720" cy="1280160"/>
          </a:xfrm>
          <a:prstGeom prst="rect">
            <a:avLst/>
          </a:prstGeom>
          <a:noFill/>
          <a:ln/>
        </p:spPr>
        <p:txBody>
          <a:bodyPr wrap="square" lIns="0" tIns="0" rIns="0" bIns="0" rtlCol="0" anchor="t"/>
          <a:lstStyle/>
          <a:p>
            <a:pPr marL="0" indent="0" algn="l">
              <a:buNone/>
            </a:pPr>
            <a:endParaRPr lang="en-US" sz="3800" dirty="0"/>
          </a:p>
        </p:txBody>
      </p:sp>
      <p:sp>
        <p:nvSpPr>
          <p:cNvPr id="3" name="Text 1"/>
          <p:cNvSpPr txBox="1"/>
          <p:nvPr/>
        </p:nvSpPr>
        <p:spPr>
          <a:xfrm>
            <a:off x="161778" y="1397977"/>
            <a:ext cx="7680960" cy="548640"/>
          </a:xfrm>
          <a:prstGeom prst="rect">
            <a:avLst/>
          </a:prstGeom>
          <a:noFill/>
          <a:ln/>
        </p:spPr>
        <p:txBody>
          <a:bodyPr wrap="square" lIns="0" tIns="0" rIns="0" bIns="0" rtlCol="0" anchor="ctr"/>
          <a:lstStyle/>
          <a:p>
            <a:pPr marL="0" indent="0">
              <a:buNone/>
            </a:pPr>
            <a:r>
              <a:rPr lang="en-US" sz="1800" dirty="0">
                <a:solidFill>
                  <a:schemeClr val="accent1"/>
                </a:solidFill>
              </a:rPr>
              <a:t>SVR, a simple neural network and Seq2Seq with attention: text to wav, end to end</a:t>
            </a:r>
            <a:endParaRPr lang="en-US" sz="1800" dirty="0"/>
          </a:p>
        </p:txBody>
      </p:sp>
      <p:sp>
        <p:nvSpPr>
          <p:cNvPr id="4" name="Text 2"/>
          <p:cNvSpPr txBox="1"/>
          <p:nvPr/>
        </p:nvSpPr>
        <p:spPr>
          <a:xfrm>
            <a:off x="161778" y="2924323"/>
            <a:ext cx="8124092" cy="443132"/>
          </a:xfrm>
          <a:prstGeom prst="rect">
            <a:avLst/>
          </a:prstGeom>
          <a:noFill/>
          <a:ln/>
        </p:spPr>
        <p:txBody>
          <a:bodyPr wrap="square" lIns="0" tIns="0" rIns="0" bIns="0" rtlCol="0" anchor="ctr"/>
          <a:lstStyle/>
          <a:p>
            <a:pPr marL="0" indent="0">
              <a:buNone/>
            </a:pPr>
            <a:r>
              <a:rPr lang="en-US" sz="1400" dirty="0">
                <a:solidFill>
                  <a:schemeClr val="bg1"/>
                </a:solidFill>
              </a:rPr>
              <a:t>CS 229 replication project </a:t>
            </a:r>
          </a:p>
          <a:p>
            <a:pPr marL="0" indent="0">
              <a:buNone/>
            </a:pPr>
            <a:r>
              <a:rPr lang="en-US" sz="1400" dirty="0">
                <a:solidFill>
                  <a:schemeClr val="bg1"/>
                </a:solidFill>
              </a:rPr>
              <a:t> </a:t>
            </a:r>
          </a:p>
          <a:p>
            <a:pPr marL="0" indent="0">
              <a:buNone/>
            </a:pPr>
            <a:r>
              <a:rPr lang="en-US" sz="1400" dirty="0">
                <a:solidFill>
                  <a:schemeClr val="bg1"/>
                </a:solidFill>
              </a:rPr>
              <a:t>  Member 1 </a:t>
            </a:r>
          </a:p>
          <a:p>
            <a:pPr marL="0" indent="0">
              <a:buNone/>
            </a:pPr>
            <a:r>
              <a:rPr lang="en-US" sz="1400" dirty="0">
                <a:solidFill>
                  <a:schemeClr val="bg1"/>
                </a:solidFill>
              </a:rPr>
              <a:t>NAME- SUJAY NAYAK</a:t>
            </a:r>
          </a:p>
          <a:p>
            <a:pPr marL="0" indent="0">
              <a:buNone/>
            </a:pPr>
            <a:r>
              <a:rPr lang="en-US" sz="1400" dirty="0">
                <a:solidFill>
                  <a:schemeClr val="bg1"/>
                </a:solidFill>
              </a:rPr>
              <a:t>SRN: PES2UG24CS533</a:t>
            </a:r>
          </a:p>
          <a:p>
            <a:pPr marL="0" indent="0">
              <a:buNone/>
            </a:pPr>
            <a:endParaRPr lang="en-US" sz="1400" dirty="0">
              <a:solidFill>
                <a:schemeClr val="bg1"/>
              </a:solidFill>
            </a:endParaRPr>
          </a:p>
          <a:p>
            <a:pPr marL="0" indent="0">
              <a:buNone/>
            </a:pPr>
            <a:r>
              <a:rPr lang="en-US" sz="1400" dirty="0">
                <a:solidFill>
                  <a:schemeClr val="bg1"/>
                </a:solidFill>
              </a:rPr>
              <a:t>Member 2</a:t>
            </a:r>
          </a:p>
          <a:p>
            <a:pPr marL="0" indent="0">
              <a:buNone/>
            </a:pPr>
            <a:r>
              <a:rPr lang="en-US" sz="1400" dirty="0">
                <a:solidFill>
                  <a:schemeClr val="bg1"/>
                </a:solidFill>
              </a:rPr>
              <a:t>NAME-SNEHA PANINI</a:t>
            </a:r>
          </a:p>
          <a:p>
            <a:pPr marL="0" indent="0">
              <a:buNone/>
            </a:pPr>
            <a:r>
              <a:rPr lang="en-US" sz="1400" dirty="0">
                <a:solidFill>
                  <a:schemeClr val="bg1"/>
                </a:solidFill>
              </a:rPr>
              <a:t>SRN: PES2UG24CS508</a:t>
            </a:r>
          </a:p>
          <a:p>
            <a:pPr marL="0" indent="0">
              <a:buNone/>
            </a:pPr>
            <a:r>
              <a:rPr lang="en-US" sz="1400" dirty="0">
                <a:solidFill>
                  <a:schemeClr val="bg1"/>
                </a:solidFill>
              </a:rPr>
              <a:t>              </a:t>
            </a:r>
          </a:p>
          <a:p>
            <a:pPr marL="0" indent="0">
              <a:buNone/>
            </a:pPr>
            <a:r>
              <a:rPr lang="en-US" sz="1400" dirty="0">
                <a:solidFill>
                  <a:schemeClr val="bg1"/>
                </a:solidFill>
              </a:rPr>
              <a:t> [Date : 11-10-2026]</a:t>
            </a:r>
            <a:endParaRPr lang="en-US" sz="1400" dirty="0"/>
          </a:p>
        </p:txBody>
      </p:sp>
      <p:sp>
        <p:nvSpPr>
          <p:cNvPr id="5" name="Text 3"/>
          <p:cNvSpPr txBox="1"/>
          <p:nvPr/>
        </p:nvSpPr>
        <p:spPr>
          <a:xfrm>
            <a:off x="200464" y="4552657"/>
            <a:ext cx="8046720" cy="365760"/>
          </a:xfrm>
          <a:prstGeom prst="rect">
            <a:avLst/>
          </a:prstGeom>
          <a:noFill/>
          <a:ln/>
        </p:spPr>
        <p:txBody>
          <a:bodyPr wrap="square" lIns="0" tIns="0" rIns="0" bIns="0" rtlCol="0" anchor="ctr"/>
          <a:lstStyle/>
          <a:p>
            <a:pPr marL="0" indent="0">
              <a:buNone/>
            </a:pPr>
            <a:r>
              <a:rPr lang="en-US" sz="1400" dirty="0">
                <a:solidFill>
                  <a:schemeClr val="bg2"/>
                </a:solidFill>
              </a:rPr>
              <a:t>Original paper: Xiao Wang, Yahan Yang, Ye Li (Stanford CS 229, Autumn 2018)</a:t>
            </a:r>
            <a:endParaRPr lang="en-US" sz="1400" dirty="0"/>
          </a:p>
        </p:txBody>
      </p:sp>
      <p:sp>
        <p:nvSpPr>
          <p:cNvPr id="7" name="Text 0"/>
          <p:cNvSpPr>
            <a:spLocks noGrp="1"/>
          </p:cNvSpPr>
          <p:nvPr>
            <p:ph type="title" idx="100" hasCustomPrompt="1"/>
          </p:nvPr>
        </p:nvSpPr>
        <p:spPr>
          <a:xfrm>
            <a:off x="161778" y="407963"/>
            <a:ext cx="8433582" cy="1192237"/>
          </a:xfrm>
          <a:prstGeom prst="rect">
            <a:avLst/>
          </a:prstGeom>
          <a:noFill/>
          <a:ln/>
        </p:spPr>
        <p:txBody>
          <a:bodyPr wrap="square" lIns="0" tIns="0" rIns="0" bIns="0" rtlCol="0" anchor="ctr"/>
          <a:lstStyle/>
          <a:p>
            <a:r>
              <a:rPr lang="en-US" sz="3200" dirty="0"/>
              <a:t>Replicating “End-to-End Text to Speech Synthesis”</a:t>
            </a:r>
            <a:br>
              <a:rPr lang="en-US" sz="3200" dirty="0"/>
            </a:b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Motivation: speech straight from text</a:t>
            </a:r>
            <a:endParaRPr lang="en-US" sz="3000" dirty="0"/>
          </a:p>
        </p:txBody>
      </p:sp>
      <p:sp>
        <p:nvSpPr>
          <p:cNvPr id="4" name="Text 1"/>
          <p:cNvSpPr txBox="1"/>
          <p:nvPr/>
        </p:nvSpPr>
        <p:spPr>
          <a:xfrm>
            <a:off x="457200" y="1234440"/>
            <a:ext cx="2743200" cy="320040"/>
          </a:xfrm>
          <a:prstGeom prst="rect">
            <a:avLst/>
          </a:prstGeom>
          <a:noFill/>
          <a:ln/>
        </p:spPr>
        <p:txBody>
          <a:bodyPr wrap="square" lIns="0" tIns="0" rIns="0" bIns="0" rtlCol="0" anchor="ctr"/>
          <a:lstStyle/>
          <a:p>
            <a:pPr marL="0" indent="0">
              <a:buNone/>
            </a:pPr>
            <a:r>
              <a:rPr lang="en-US" sz="1600" b="1" dirty="0">
                <a:solidFill>
                  <a:schemeClr val="accent6"/>
                </a:solidFill>
              </a:rPr>
              <a:t>Traditional TTS</a:t>
            </a:r>
            <a:endParaRPr lang="en-US" sz="1600" dirty="0"/>
          </a:p>
        </p:txBody>
      </p:sp>
      <p:sp>
        <p:nvSpPr>
          <p:cNvPr id="5" name="chip"/>
          <p:cNvSpPr/>
          <p:nvPr/>
        </p:nvSpPr>
        <p:spPr>
          <a:xfrm>
            <a:off x="457200" y="1600200"/>
            <a:ext cx="1737360" cy="640080"/>
          </a:xfrm>
          <a:prstGeom prst="roundRect">
            <a:avLst>
              <a:gd name="adj" fmla="val 14286"/>
            </a:avLst>
          </a:prstGeom>
          <a:solidFill>
            <a:schemeClr val="bg2"/>
          </a:solidFill>
          <a:ln w="12700">
            <a:solidFill>
              <a:schemeClr val="bg2"/>
            </a:solidFill>
            <a:prstDash val="solid"/>
          </a:ln>
        </p:spPr>
      </p:sp>
      <p:sp>
        <p:nvSpPr>
          <p:cNvPr id="6" name="Text 3"/>
          <p:cNvSpPr txBox="1"/>
          <p:nvPr/>
        </p:nvSpPr>
        <p:spPr>
          <a:xfrm>
            <a:off x="457200" y="1600200"/>
            <a:ext cx="1737360" cy="640080"/>
          </a:xfrm>
          <a:prstGeom prst="rect">
            <a:avLst/>
          </a:prstGeom>
          <a:noFill/>
          <a:ln/>
        </p:spPr>
        <p:txBody>
          <a:bodyPr wrap="square" lIns="50800" tIns="50800" rIns="50800" bIns="50800" rtlCol="0" anchor="ctr"/>
          <a:lstStyle/>
          <a:p>
            <a:pPr marL="0" indent="0" algn="ctr">
              <a:buNone/>
            </a:pPr>
            <a:r>
              <a:rPr lang="en-US" sz="1400" dirty="0">
                <a:solidFill>
                  <a:schemeClr val="tx2"/>
                </a:solidFill>
              </a:rPr>
              <a:t>Text normalisation</a:t>
            </a:r>
            <a:endParaRPr lang="en-US" sz="1400" dirty="0"/>
          </a:p>
        </p:txBody>
      </p:sp>
      <p:sp>
        <p:nvSpPr>
          <p:cNvPr id="7" name="Text 4"/>
          <p:cNvSpPr txBox="1"/>
          <p:nvPr/>
        </p:nvSpPr>
        <p:spPr>
          <a:xfrm>
            <a:off x="2176272" y="169164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8" name="chip"/>
          <p:cNvSpPr/>
          <p:nvPr/>
        </p:nvSpPr>
        <p:spPr>
          <a:xfrm>
            <a:off x="2560320" y="1600200"/>
            <a:ext cx="1737360" cy="640080"/>
          </a:xfrm>
          <a:prstGeom prst="roundRect">
            <a:avLst>
              <a:gd name="adj" fmla="val 14286"/>
            </a:avLst>
          </a:prstGeom>
          <a:solidFill>
            <a:schemeClr val="bg2"/>
          </a:solidFill>
          <a:ln w="12700">
            <a:solidFill>
              <a:schemeClr val="bg2"/>
            </a:solidFill>
            <a:prstDash val="solid"/>
          </a:ln>
        </p:spPr>
      </p:sp>
      <p:sp>
        <p:nvSpPr>
          <p:cNvPr id="9" name="Text 6"/>
          <p:cNvSpPr txBox="1"/>
          <p:nvPr/>
        </p:nvSpPr>
        <p:spPr>
          <a:xfrm>
            <a:off x="2560320" y="1600200"/>
            <a:ext cx="1737360" cy="640080"/>
          </a:xfrm>
          <a:prstGeom prst="rect">
            <a:avLst/>
          </a:prstGeom>
          <a:noFill/>
          <a:ln/>
        </p:spPr>
        <p:txBody>
          <a:bodyPr wrap="square" lIns="50800" tIns="50800" rIns="50800" bIns="50800" rtlCol="0" anchor="ctr"/>
          <a:lstStyle/>
          <a:p>
            <a:pPr marL="0" indent="0" algn="ctr">
              <a:buNone/>
            </a:pPr>
            <a:r>
              <a:rPr lang="en-US" sz="1400" dirty="0">
                <a:solidFill>
                  <a:schemeClr val="tx2"/>
                </a:solidFill>
              </a:rPr>
              <a:t>Encoder</a:t>
            </a:r>
            <a:endParaRPr lang="en-US" sz="1400" dirty="0"/>
          </a:p>
        </p:txBody>
      </p:sp>
      <p:sp>
        <p:nvSpPr>
          <p:cNvPr id="10" name="Text 7"/>
          <p:cNvSpPr txBox="1"/>
          <p:nvPr/>
        </p:nvSpPr>
        <p:spPr>
          <a:xfrm>
            <a:off x="4279392" y="169164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1" name="chip"/>
          <p:cNvSpPr/>
          <p:nvPr/>
        </p:nvSpPr>
        <p:spPr>
          <a:xfrm>
            <a:off x="4663440" y="1600200"/>
            <a:ext cx="1737360" cy="640080"/>
          </a:xfrm>
          <a:prstGeom prst="roundRect">
            <a:avLst>
              <a:gd name="adj" fmla="val 14286"/>
            </a:avLst>
          </a:prstGeom>
          <a:solidFill>
            <a:schemeClr val="bg2"/>
          </a:solidFill>
          <a:ln w="12700">
            <a:solidFill>
              <a:schemeClr val="bg2"/>
            </a:solidFill>
            <a:prstDash val="solid"/>
          </a:ln>
        </p:spPr>
      </p:sp>
      <p:sp>
        <p:nvSpPr>
          <p:cNvPr id="12" name="Text 9"/>
          <p:cNvSpPr txBox="1"/>
          <p:nvPr/>
        </p:nvSpPr>
        <p:spPr>
          <a:xfrm>
            <a:off x="4663440" y="1600200"/>
            <a:ext cx="1737360" cy="640080"/>
          </a:xfrm>
          <a:prstGeom prst="rect">
            <a:avLst/>
          </a:prstGeom>
          <a:noFill/>
          <a:ln/>
        </p:spPr>
        <p:txBody>
          <a:bodyPr wrap="square" lIns="50800" tIns="50800" rIns="50800" bIns="50800" rtlCol="0" anchor="ctr"/>
          <a:lstStyle/>
          <a:p>
            <a:pPr marL="0" indent="0" algn="ctr">
              <a:buNone/>
            </a:pPr>
            <a:r>
              <a:rPr lang="en-US" sz="1400" dirty="0">
                <a:solidFill>
                  <a:schemeClr val="tx2"/>
                </a:solidFill>
              </a:rPr>
              <a:t>Decoder</a:t>
            </a:r>
            <a:endParaRPr lang="en-US" sz="1400" dirty="0"/>
          </a:p>
        </p:txBody>
      </p:sp>
      <p:sp>
        <p:nvSpPr>
          <p:cNvPr id="13" name="Text 10"/>
          <p:cNvSpPr txBox="1"/>
          <p:nvPr/>
        </p:nvSpPr>
        <p:spPr>
          <a:xfrm>
            <a:off x="6382512" y="169164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4" name="chip"/>
          <p:cNvSpPr/>
          <p:nvPr/>
        </p:nvSpPr>
        <p:spPr>
          <a:xfrm>
            <a:off x="6766560" y="1600200"/>
            <a:ext cx="1737360" cy="640080"/>
          </a:xfrm>
          <a:prstGeom prst="roundRect">
            <a:avLst>
              <a:gd name="adj" fmla="val 14286"/>
            </a:avLst>
          </a:prstGeom>
          <a:solidFill>
            <a:schemeClr val="bg2"/>
          </a:solidFill>
          <a:ln w="12700">
            <a:solidFill>
              <a:schemeClr val="bg2"/>
            </a:solidFill>
            <a:prstDash val="solid"/>
          </a:ln>
        </p:spPr>
      </p:sp>
      <p:sp>
        <p:nvSpPr>
          <p:cNvPr id="15" name="Text 12"/>
          <p:cNvSpPr txBox="1"/>
          <p:nvPr/>
        </p:nvSpPr>
        <p:spPr>
          <a:xfrm>
            <a:off x="6766560" y="1600200"/>
            <a:ext cx="1737360" cy="640080"/>
          </a:xfrm>
          <a:prstGeom prst="rect">
            <a:avLst/>
          </a:prstGeom>
          <a:noFill/>
          <a:ln/>
        </p:spPr>
        <p:txBody>
          <a:bodyPr wrap="square" lIns="50800" tIns="50800" rIns="50800" bIns="50800" rtlCol="0" anchor="ctr"/>
          <a:lstStyle/>
          <a:p>
            <a:pPr marL="0" indent="0" algn="ctr">
              <a:buNone/>
            </a:pPr>
            <a:r>
              <a:rPr lang="en-US" sz="1400" dirty="0">
                <a:solidFill>
                  <a:schemeClr val="tx2"/>
                </a:solidFill>
              </a:rPr>
              <a:t>Vocoder</a:t>
            </a:r>
            <a:endParaRPr lang="en-US" sz="1400" dirty="0"/>
          </a:p>
        </p:txBody>
      </p:sp>
      <p:sp>
        <p:nvSpPr>
          <p:cNvPr id="16" name="Text 13"/>
          <p:cNvSpPr txBox="1"/>
          <p:nvPr/>
        </p:nvSpPr>
        <p:spPr>
          <a:xfrm>
            <a:off x="457200" y="2560320"/>
            <a:ext cx="2743200" cy="320040"/>
          </a:xfrm>
          <a:prstGeom prst="rect">
            <a:avLst/>
          </a:prstGeom>
          <a:noFill/>
          <a:ln/>
        </p:spPr>
        <p:txBody>
          <a:bodyPr wrap="square" lIns="0" tIns="0" rIns="0" bIns="0" rtlCol="0" anchor="ctr"/>
          <a:lstStyle/>
          <a:p>
            <a:pPr marL="0" indent="0">
              <a:buNone/>
            </a:pPr>
            <a:r>
              <a:rPr lang="en-US" sz="1600" b="1" dirty="0">
                <a:solidFill>
                  <a:schemeClr val="accent1"/>
                </a:solidFill>
              </a:rPr>
              <a:t>End-to-end</a:t>
            </a:r>
            <a:endParaRPr lang="en-US" sz="1600" dirty="0"/>
          </a:p>
        </p:txBody>
      </p:sp>
      <p:sp>
        <p:nvSpPr>
          <p:cNvPr id="17" name="chip"/>
          <p:cNvSpPr/>
          <p:nvPr/>
        </p:nvSpPr>
        <p:spPr>
          <a:xfrm>
            <a:off x="457200" y="2926080"/>
            <a:ext cx="1737360" cy="640080"/>
          </a:xfrm>
          <a:prstGeom prst="roundRect">
            <a:avLst>
              <a:gd name="adj" fmla="val 14286"/>
            </a:avLst>
          </a:prstGeom>
          <a:solidFill>
            <a:schemeClr val="accent6"/>
          </a:solidFill>
          <a:ln w="12700">
            <a:solidFill>
              <a:schemeClr val="accent6"/>
            </a:solidFill>
            <a:prstDash val="solid"/>
          </a:ln>
        </p:spPr>
      </p:sp>
      <p:sp>
        <p:nvSpPr>
          <p:cNvPr id="18" name="Text 15"/>
          <p:cNvSpPr txBox="1"/>
          <p:nvPr/>
        </p:nvSpPr>
        <p:spPr>
          <a:xfrm>
            <a:off x="457200" y="2926080"/>
            <a:ext cx="1737360" cy="640080"/>
          </a:xfrm>
          <a:prstGeom prst="rect">
            <a:avLst/>
          </a:prstGeom>
          <a:noFill/>
          <a:ln/>
        </p:spPr>
        <p:txBody>
          <a:bodyPr wrap="square" lIns="50800" tIns="50800" rIns="50800" bIns="50800" rtlCol="0" anchor="ctr"/>
          <a:lstStyle/>
          <a:p>
            <a:pPr marL="0" indent="0" algn="ctr">
              <a:buNone/>
            </a:pPr>
            <a:r>
              <a:rPr lang="en-US" sz="1400" b="1" dirty="0">
                <a:solidFill>
                  <a:schemeClr val="bg1"/>
                </a:solidFill>
              </a:rPr>
              <a:t>Text</a:t>
            </a:r>
            <a:endParaRPr lang="en-US" sz="1400" dirty="0"/>
          </a:p>
        </p:txBody>
      </p:sp>
      <p:sp>
        <p:nvSpPr>
          <p:cNvPr id="19" name="Text 16"/>
          <p:cNvSpPr txBox="1"/>
          <p:nvPr/>
        </p:nvSpPr>
        <p:spPr>
          <a:xfrm>
            <a:off x="2194560" y="3017520"/>
            <a:ext cx="457200"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20" name="chip"/>
          <p:cNvSpPr/>
          <p:nvPr/>
        </p:nvSpPr>
        <p:spPr>
          <a:xfrm>
            <a:off x="2651760" y="2926080"/>
            <a:ext cx="3108960" cy="640080"/>
          </a:xfrm>
          <a:prstGeom prst="roundRect">
            <a:avLst>
              <a:gd name="adj" fmla="val 14286"/>
            </a:avLst>
          </a:prstGeom>
          <a:solidFill>
            <a:schemeClr val="accent1"/>
          </a:solidFill>
          <a:ln w="12700">
            <a:solidFill>
              <a:schemeClr val="accent1"/>
            </a:solidFill>
            <a:prstDash val="solid"/>
          </a:ln>
        </p:spPr>
      </p:sp>
      <p:sp>
        <p:nvSpPr>
          <p:cNvPr id="21" name="Text 18"/>
          <p:cNvSpPr txBox="1"/>
          <p:nvPr/>
        </p:nvSpPr>
        <p:spPr>
          <a:xfrm>
            <a:off x="2651760" y="2926080"/>
            <a:ext cx="3108960" cy="640080"/>
          </a:xfrm>
          <a:prstGeom prst="rect">
            <a:avLst/>
          </a:prstGeom>
          <a:noFill/>
          <a:ln/>
        </p:spPr>
        <p:txBody>
          <a:bodyPr wrap="square" lIns="50800" tIns="50800" rIns="50800" bIns="50800" rtlCol="0" anchor="ctr"/>
          <a:lstStyle/>
          <a:p>
            <a:pPr marL="0" indent="0" algn="ctr">
              <a:buNone/>
            </a:pPr>
            <a:r>
              <a:rPr lang="en-US" sz="1400" b="1" dirty="0">
                <a:solidFill>
                  <a:schemeClr val="bg1"/>
                </a:solidFill>
              </a:rPr>
              <a:t>One learned model</a:t>
            </a:r>
            <a:endParaRPr lang="en-US" sz="1400" dirty="0"/>
          </a:p>
        </p:txBody>
      </p:sp>
      <p:sp>
        <p:nvSpPr>
          <p:cNvPr id="22" name="Text 19"/>
          <p:cNvSpPr txBox="1"/>
          <p:nvPr/>
        </p:nvSpPr>
        <p:spPr>
          <a:xfrm>
            <a:off x="5760720" y="3017520"/>
            <a:ext cx="457200"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23" name="chip"/>
          <p:cNvSpPr/>
          <p:nvPr/>
        </p:nvSpPr>
        <p:spPr>
          <a:xfrm>
            <a:off x="6217920" y="2926080"/>
            <a:ext cx="1920240" cy="640080"/>
          </a:xfrm>
          <a:prstGeom prst="roundRect">
            <a:avLst>
              <a:gd name="adj" fmla="val 14286"/>
            </a:avLst>
          </a:prstGeom>
          <a:solidFill>
            <a:schemeClr val="accent6"/>
          </a:solidFill>
          <a:ln w="12700">
            <a:solidFill>
              <a:schemeClr val="accent6"/>
            </a:solidFill>
            <a:prstDash val="solid"/>
          </a:ln>
        </p:spPr>
      </p:sp>
      <p:sp>
        <p:nvSpPr>
          <p:cNvPr id="24" name="Text 21"/>
          <p:cNvSpPr txBox="1"/>
          <p:nvPr/>
        </p:nvSpPr>
        <p:spPr>
          <a:xfrm>
            <a:off x="6217920" y="2926080"/>
            <a:ext cx="1920240" cy="640080"/>
          </a:xfrm>
          <a:prstGeom prst="rect">
            <a:avLst/>
          </a:prstGeom>
          <a:noFill/>
          <a:ln/>
        </p:spPr>
        <p:txBody>
          <a:bodyPr wrap="square" lIns="50800" tIns="50800" rIns="50800" bIns="50800" rtlCol="0" anchor="ctr"/>
          <a:lstStyle/>
          <a:p>
            <a:pPr marL="0" indent="0" algn="ctr">
              <a:buNone/>
            </a:pPr>
            <a:r>
              <a:rPr lang="en-US" sz="1400" b="1" dirty="0">
                <a:solidFill>
                  <a:schemeClr val="bg1"/>
                </a:solidFill>
              </a:rPr>
              <a:t>Speech (wav)</a:t>
            </a:r>
            <a:endParaRPr lang="en-US" sz="1400" dirty="0"/>
          </a:p>
        </p:txBody>
      </p:sp>
      <p:sp>
        <p:nvSpPr>
          <p:cNvPr id="25" name="Text 22"/>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800" i="1" dirty="0">
                <a:solidFill>
                  <a:schemeClr val="tx2"/>
                </a:solidFill>
              </a:rPr>
              <a:t>Our question: how far do simple models and a small Seq2Seq get?</a:t>
            </a:r>
            <a:endParaRPr lang="en-US" sz="1800" dirty="0"/>
          </a:p>
        </p:txBody>
      </p:sp>
      <p:sp>
        <p:nvSpPr>
          <p:cNvPr id="3"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The original paper and what we replicated</a:t>
            </a:r>
            <a:endParaRPr lang="en-US" sz="3000" dirty="0"/>
          </a:p>
        </p:txBody>
      </p:sp>
      <p:sp>
        <p:nvSpPr>
          <p:cNvPr id="4" name="Shape 1"/>
          <p:cNvSpPr/>
          <p:nvPr/>
        </p:nvSpPr>
        <p:spPr>
          <a:xfrm>
            <a:off x="457200" y="1188720"/>
            <a:ext cx="2560320" cy="1234440"/>
          </a:xfrm>
          <a:prstGeom prst="roundRect">
            <a:avLst>
              <a:gd name="adj" fmla="val 7407"/>
            </a:avLst>
          </a:prstGeom>
          <a:solidFill>
            <a:schemeClr val="bg2"/>
          </a:solidFill>
          <a:ln w="12700">
            <a:solidFill>
              <a:schemeClr val="bg2"/>
            </a:solidFill>
            <a:prstDash val="solid"/>
          </a:ln>
        </p:spPr>
      </p:sp>
      <p:sp>
        <p:nvSpPr>
          <p:cNvPr id="5" name="Text 2"/>
          <p:cNvSpPr txBox="1"/>
          <p:nvPr/>
        </p:nvSpPr>
        <p:spPr>
          <a:xfrm>
            <a:off x="457200" y="1234440"/>
            <a:ext cx="2560320" cy="77724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1.0</a:t>
            </a:r>
            <a:endParaRPr lang="en-US" sz="4400" dirty="0"/>
          </a:p>
        </p:txBody>
      </p:sp>
      <p:sp>
        <p:nvSpPr>
          <p:cNvPr id="6" name="Text 3"/>
          <p:cNvSpPr txBox="1"/>
          <p:nvPr/>
        </p:nvSpPr>
        <p:spPr>
          <a:xfrm>
            <a:off x="457200" y="2011680"/>
            <a:ext cx="2560320" cy="320040"/>
          </a:xfrm>
          <a:prstGeom prst="rect">
            <a:avLst/>
          </a:prstGeom>
          <a:noFill/>
          <a:ln/>
        </p:spPr>
        <p:txBody>
          <a:bodyPr wrap="square" lIns="0" tIns="0" rIns="0" bIns="0" rtlCol="0" anchor="ctr"/>
          <a:lstStyle/>
          <a:p>
            <a:pPr marL="0" indent="0" algn="ctr">
              <a:buNone/>
            </a:pPr>
            <a:r>
              <a:rPr lang="en-US" sz="1400" dirty="0">
                <a:solidFill>
                  <a:schemeClr val="tx2"/>
                </a:solidFill>
              </a:rPr>
              <a:t>SVR (paper MOS)</a:t>
            </a:r>
            <a:endParaRPr lang="en-US" sz="1400" dirty="0"/>
          </a:p>
        </p:txBody>
      </p:sp>
      <p:sp>
        <p:nvSpPr>
          <p:cNvPr id="7" name="Shape 4"/>
          <p:cNvSpPr/>
          <p:nvPr/>
        </p:nvSpPr>
        <p:spPr>
          <a:xfrm>
            <a:off x="3291840" y="1188720"/>
            <a:ext cx="2560320" cy="1234440"/>
          </a:xfrm>
          <a:prstGeom prst="roundRect">
            <a:avLst>
              <a:gd name="adj" fmla="val 7407"/>
            </a:avLst>
          </a:prstGeom>
          <a:solidFill>
            <a:schemeClr val="bg2"/>
          </a:solidFill>
          <a:ln w="12700">
            <a:solidFill>
              <a:schemeClr val="bg2"/>
            </a:solidFill>
            <a:prstDash val="solid"/>
          </a:ln>
        </p:spPr>
      </p:sp>
      <p:sp>
        <p:nvSpPr>
          <p:cNvPr id="8" name="Text 5"/>
          <p:cNvSpPr txBox="1"/>
          <p:nvPr/>
        </p:nvSpPr>
        <p:spPr>
          <a:xfrm>
            <a:off x="3291840" y="1234440"/>
            <a:ext cx="2560320" cy="77724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1.7</a:t>
            </a:r>
            <a:endParaRPr lang="en-US" sz="4400" dirty="0"/>
          </a:p>
        </p:txBody>
      </p:sp>
      <p:sp>
        <p:nvSpPr>
          <p:cNvPr id="9" name="Text 6"/>
          <p:cNvSpPr txBox="1"/>
          <p:nvPr/>
        </p:nvSpPr>
        <p:spPr>
          <a:xfrm>
            <a:off x="3291840" y="2011680"/>
            <a:ext cx="2560320" cy="320040"/>
          </a:xfrm>
          <a:prstGeom prst="rect">
            <a:avLst/>
          </a:prstGeom>
          <a:noFill/>
          <a:ln/>
        </p:spPr>
        <p:txBody>
          <a:bodyPr wrap="square" lIns="0" tIns="0" rIns="0" bIns="0" rtlCol="0" anchor="ctr"/>
          <a:lstStyle/>
          <a:p>
            <a:pPr marL="0" indent="0" algn="ctr">
              <a:buNone/>
            </a:pPr>
            <a:r>
              <a:rPr lang="en-US" sz="1400" dirty="0">
                <a:solidFill>
                  <a:schemeClr val="tx2"/>
                </a:solidFill>
              </a:rPr>
              <a:t>Simple NN (paper MOS)</a:t>
            </a:r>
            <a:endParaRPr lang="en-US" sz="1400" dirty="0"/>
          </a:p>
        </p:txBody>
      </p:sp>
      <p:sp>
        <p:nvSpPr>
          <p:cNvPr id="10" name="Shape 7"/>
          <p:cNvSpPr/>
          <p:nvPr/>
        </p:nvSpPr>
        <p:spPr>
          <a:xfrm>
            <a:off x="6126480" y="1188720"/>
            <a:ext cx="2560320" cy="1234440"/>
          </a:xfrm>
          <a:prstGeom prst="roundRect">
            <a:avLst>
              <a:gd name="adj" fmla="val 7407"/>
            </a:avLst>
          </a:prstGeom>
          <a:solidFill>
            <a:schemeClr val="bg2"/>
          </a:solidFill>
          <a:ln w="12700">
            <a:solidFill>
              <a:schemeClr val="bg2"/>
            </a:solidFill>
            <a:prstDash val="solid"/>
          </a:ln>
        </p:spPr>
      </p:sp>
      <p:sp>
        <p:nvSpPr>
          <p:cNvPr id="11" name="Text 8"/>
          <p:cNvSpPr txBox="1"/>
          <p:nvPr/>
        </p:nvSpPr>
        <p:spPr>
          <a:xfrm>
            <a:off x="6126480" y="1234440"/>
            <a:ext cx="2560320" cy="77724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2.5</a:t>
            </a:r>
            <a:endParaRPr lang="en-US" sz="4400" dirty="0"/>
          </a:p>
        </p:txBody>
      </p:sp>
      <p:sp>
        <p:nvSpPr>
          <p:cNvPr id="12" name="Text 9"/>
          <p:cNvSpPr txBox="1"/>
          <p:nvPr/>
        </p:nvSpPr>
        <p:spPr>
          <a:xfrm>
            <a:off x="6126480" y="2011680"/>
            <a:ext cx="2560320" cy="320040"/>
          </a:xfrm>
          <a:prstGeom prst="rect">
            <a:avLst/>
          </a:prstGeom>
          <a:noFill/>
          <a:ln/>
        </p:spPr>
        <p:txBody>
          <a:bodyPr wrap="square" lIns="0" tIns="0" rIns="0" bIns="0" rtlCol="0" anchor="ctr"/>
          <a:lstStyle/>
          <a:p>
            <a:pPr marL="0" indent="0" algn="ctr">
              <a:buNone/>
            </a:pPr>
            <a:r>
              <a:rPr lang="en-US" sz="1400" dirty="0">
                <a:solidFill>
                  <a:schemeClr val="tx2"/>
                </a:solidFill>
              </a:rPr>
              <a:t>Seq2Seq (paper MOS)</a:t>
            </a:r>
            <a:endParaRPr lang="en-US" sz="1400" dirty="0"/>
          </a:p>
        </p:txBody>
      </p:sp>
      <p:sp>
        <p:nvSpPr>
          <p:cNvPr id="13" name="Text 10"/>
          <p:cNvSpPr txBox="1"/>
          <p:nvPr/>
        </p:nvSpPr>
        <p:spPr>
          <a:xfrm>
            <a:off x="457200" y="27432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2"/>
                </a:solidFill>
              </a:rPr>
              <a:t>Same three models, same pipeline, same MOS survey</a:t>
            </a:r>
            <a:endParaRPr lang="en-US" sz="1800" dirty="0"/>
          </a:p>
          <a:p>
            <a:pPr marL="342900" indent="-342900">
              <a:spcAft>
                <a:spcPts val="600"/>
              </a:spcAft>
              <a:buSzPct val="100000"/>
              <a:buChar char="•"/>
            </a:pPr>
            <a:r>
              <a:rPr lang="en-US" sz="1800" dirty="0">
                <a:solidFill>
                  <a:schemeClr val="tx2"/>
                </a:solidFill>
              </a:rPr>
              <a:t>Same data source: LJ Speech, 200 training sentences</a:t>
            </a:r>
            <a:endParaRPr lang="en-US" sz="1800" dirty="0"/>
          </a:p>
          <a:p>
            <a:pPr marL="342900" indent="-342900">
              <a:spcAft>
                <a:spcPts val="600"/>
              </a:spcAft>
              <a:buSzPct val="100000"/>
              <a:buChar char="•"/>
            </a:pPr>
            <a:r>
              <a:rPr lang="en-US" sz="1800" dirty="0">
                <a:solidFill>
                  <a:schemeClr val="tx2"/>
                </a:solidFill>
              </a:rPr>
              <a:t>Our change: clips capped at 5 s</a:t>
            </a:r>
            <a:endParaRPr lang="en-US" sz="1800" dirty="0"/>
          </a:p>
        </p:txBody>
      </p:sp>
      <p:sp>
        <p:nvSpPr>
          <p:cNvPr id="14" name="Text 11"/>
          <p:cNvSpPr txBox="1"/>
          <p:nvPr/>
        </p:nvSpPr>
        <p:spPr>
          <a:xfrm>
            <a:off x="457200" y="4343400"/>
            <a:ext cx="7772400" cy="274320"/>
          </a:xfrm>
          <a:prstGeom prst="rect">
            <a:avLst/>
          </a:prstGeom>
          <a:noFill/>
          <a:ln/>
        </p:spPr>
        <p:txBody>
          <a:bodyPr wrap="square" lIns="0" tIns="0" rIns="0" bIns="0" rtlCol="0" anchor="ctr"/>
          <a:lstStyle/>
          <a:p>
            <a:pPr marL="0" indent="0">
              <a:buNone/>
            </a:pPr>
            <a:r>
              <a:rPr lang="en-US" sz="1200" dirty="0">
                <a:solidFill>
                  <a:schemeClr val="accent6"/>
                </a:solidFill>
              </a:rPr>
              <a:t>Wang, Yang &amp; Li, “End-to-End Text to Speech Synthesis”, CS 229, Autumn 2018</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Dataset: LJ Speech and our subset</a:t>
            </a:r>
            <a:endParaRPr lang="en-US" sz="3000" dirty="0"/>
          </a:p>
        </p:txBody>
      </p:sp>
      <p:sp>
        <p:nvSpPr>
          <p:cNvPr id="4" name="Shape 1"/>
          <p:cNvSpPr/>
          <p:nvPr/>
        </p:nvSpPr>
        <p:spPr>
          <a:xfrm>
            <a:off x="457200" y="1371600"/>
            <a:ext cx="1920240" cy="182880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457200" y="1508760"/>
            <a:ext cx="1920240" cy="822960"/>
          </a:xfrm>
          <a:prstGeom prst="rect">
            <a:avLst/>
          </a:prstGeom>
          <a:noFill/>
          <a:ln/>
        </p:spPr>
        <p:txBody>
          <a:bodyPr wrap="square" lIns="0" tIns="0" rIns="0" bIns="0" rtlCol="0" anchor="ctr"/>
          <a:lstStyle/>
          <a:p>
            <a:pPr marL="0" indent="0" algn="ctr">
              <a:buNone/>
            </a:pPr>
            <a:r>
              <a:rPr lang="en-US" sz="3400" b="1" dirty="0">
                <a:solidFill>
                  <a:schemeClr val="accent1"/>
                </a:solidFill>
                <a:latin typeface="Cambria" pitchFamily="34" charset="0"/>
                <a:ea typeface="Cambria" pitchFamily="34" charset="-122"/>
                <a:cs typeface="Cambria" pitchFamily="34" charset="-120"/>
              </a:rPr>
              <a:t>13,100</a:t>
            </a:r>
            <a:endParaRPr lang="en-US" sz="3400" dirty="0"/>
          </a:p>
        </p:txBody>
      </p:sp>
      <p:sp>
        <p:nvSpPr>
          <p:cNvPr id="6" name="Text 3"/>
          <p:cNvSpPr txBox="1"/>
          <p:nvPr/>
        </p:nvSpPr>
        <p:spPr>
          <a:xfrm>
            <a:off x="548640" y="2377440"/>
            <a:ext cx="1737360" cy="685800"/>
          </a:xfrm>
          <a:prstGeom prst="rect">
            <a:avLst/>
          </a:prstGeom>
          <a:noFill/>
          <a:ln/>
        </p:spPr>
        <p:txBody>
          <a:bodyPr wrap="square" lIns="0" tIns="0" rIns="0" bIns="0" rtlCol="0" anchor="t"/>
          <a:lstStyle/>
          <a:p>
            <a:pPr marL="0" indent="0" algn="ctr">
              <a:buNone/>
            </a:pPr>
            <a:r>
              <a:rPr lang="en-US" sz="1400" dirty="0">
                <a:solidFill>
                  <a:schemeClr val="tx2"/>
                </a:solidFill>
              </a:rPr>
              <a:t>clips in LJ Speech (1 speaker)</a:t>
            </a:r>
            <a:endParaRPr lang="en-US" sz="1400" dirty="0"/>
          </a:p>
        </p:txBody>
      </p:sp>
      <p:sp>
        <p:nvSpPr>
          <p:cNvPr id="7" name="Shape 4"/>
          <p:cNvSpPr/>
          <p:nvPr/>
        </p:nvSpPr>
        <p:spPr>
          <a:xfrm>
            <a:off x="2560320" y="1371600"/>
            <a:ext cx="1920240" cy="182880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2560320" y="1508760"/>
            <a:ext cx="1920240" cy="82296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200</a:t>
            </a:r>
            <a:endParaRPr lang="en-US" sz="4000" dirty="0"/>
          </a:p>
        </p:txBody>
      </p:sp>
      <p:sp>
        <p:nvSpPr>
          <p:cNvPr id="9" name="Text 6"/>
          <p:cNvSpPr txBox="1"/>
          <p:nvPr/>
        </p:nvSpPr>
        <p:spPr>
          <a:xfrm>
            <a:off x="2651760" y="2377440"/>
            <a:ext cx="1737360" cy="685800"/>
          </a:xfrm>
          <a:prstGeom prst="rect">
            <a:avLst/>
          </a:prstGeom>
          <a:noFill/>
          <a:ln/>
        </p:spPr>
        <p:txBody>
          <a:bodyPr wrap="square" lIns="0" tIns="0" rIns="0" bIns="0" rtlCol="0" anchor="t"/>
          <a:lstStyle/>
          <a:p>
            <a:pPr marL="0" indent="0" algn="ctr">
              <a:buNone/>
            </a:pPr>
            <a:r>
              <a:rPr lang="en-US" sz="1400" dirty="0">
                <a:solidFill>
                  <a:schemeClr val="tx2"/>
                </a:solidFill>
              </a:rPr>
              <a:t>training sentences</a:t>
            </a:r>
            <a:endParaRPr lang="en-US" sz="1400" dirty="0"/>
          </a:p>
        </p:txBody>
      </p:sp>
      <p:sp>
        <p:nvSpPr>
          <p:cNvPr id="10" name="Shape 7"/>
          <p:cNvSpPr/>
          <p:nvPr/>
        </p:nvSpPr>
        <p:spPr>
          <a:xfrm>
            <a:off x="4663440" y="1371600"/>
            <a:ext cx="1920240" cy="182880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4663440" y="1508760"/>
            <a:ext cx="1920240" cy="82296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12" name="Text 9"/>
          <p:cNvSpPr txBox="1"/>
          <p:nvPr/>
        </p:nvSpPr>
        <p:spPr>
          <a:xfrm>
            <a:off x="4754880" y="2377440"/>
            <a:ext cx="1737360" cy="685800"/>
          </a:xfrm>
          <a:prstGeom prst="rect">
            <a:avLst/>
          </a:prstGeom>
          <a:noFill/>
          <a:ln/>
        </p:spPr>
        <p:txBody>
          <a:bodyPr wrap="square" lIns="0" tIns="0" rIns="0" bIns="0" rtlCol="0" anchor="t"/>
          <a:lstStyle/>
          <a:p>
            <a:pPr marL="0" indent="0" algn="ctr">
              <a:buNone/>
            </a:pPr>
            <a:r>
              <a:rPr lang="en-US" sz="1400" dirty="0">
                <a:solidFill>
                  <a:schemeClr val="tx2"/>
                </a:solidFill>
              </a:rPr>
              <a:t>dev sentences (dev loss only)</a:t>
            </a:r>
            <a:endParaRPr lang="en-US" sz="1400" dirty="0"/>
          </a:p>
        </p:txBody>
      </p:sp>
      <p:sp>
        <p:nvSpPr>
          <p:cNvPr id="13" name="Shape 10"/>
          <p:cNvSpPr/>
          <p:nvPr/>
        </p:nvSpPr>
        <p:spPr>
          <a:xfrm>
            <a:off x="6766560" y="1371600"/>
            <a:ext cx="1920240" cy="1828800"/>
          </a:xfrm>
          <a:prstGeom prst="roundRect">
            <a:avLst>
              <a:gd name="adj" fmla="val 5000"/>
            </a:avLst>
          </a:prstGeom>
          <a:solidFill>
            <a:schemeClr val="accent2"/>
          </a:solidFill>
          <a:ln w="12700">
            <a:solidFill>
              <a:schemeClr val="accent2"/>
            </a:solidFill>
            <a:prstDash val="solid"/>
          </a:ln>
        </p:spPr>
      </p:sp>
      <p:sp>
        <p:nvSpPr>
          <p:cNvPr id="14" name="Text 11"/>
          <p:cNvSpPr txBox="1"/>
          <p:nvPr/>
        </p:nvSpPr>
        <p:spPr>
          <a:xfrm>
            <a:off x="6766560" y="1508760"/>
            <a:ext cx="1920240" cy="822960"/>
          </a:xfrm>
          <a:prstGeom prst="rect">
            <a:avLst/>
          </a:prstGeom>
          <a:noFill/>
          <a:ln/>
        </p:spPr>
        <p:txBody>
          <a:bodyPr wrap="square" lIns="0" tIns="0" rIns="0" bIns="0" rtlCol="0" anchor="ctr"/>
          <a:lstStyle/>
          <a:p>
            <a:pPr marL="0" indent="0" algn="ctr">
              <a:buNone/>
            </a:pPr>
            <a:r>
              <a:rPr lang="en-US" sz="4000" b="1" dirty="0">
                <a:solidFill>
                  <a:schemeClr val="tx2"/>
                </a:solidFill>
                <a:latin typeface="Cambria" pitchFamily="34" charset="0"/>
                <a:ea typeface="Cambria" pitchFamily="34" charset="-122"/>
                <a:cs typeface="Cambria" pitchFamily="34" charset="-120"/>
              </a:rPr>
              <a:t>≤ 5 s</a:t>
            </a:r>
            <a:endParaRPr lang="en-US" sz="4000" dirty="0"/>
          </a:p>
        </p:txBody>
      </p:sp>
      <p:sp>
        <p:nvSpPr>
          <p:cNvPr id="15" name="Text 12"/>
          <p:cNvSpPr txBox="1"/>
          <p:nvPr/>
        </p:nvSpPr>
        <p:spPr>
          <a:xfrm>
            <a:off x="6858000" y="2377440"/>
            <a:ext cx="1737360" cy="685800"/>
          </a:xfrm>
          <a:prstGeom prst="rect">
            <a:avLst/>
          </a:prstGeom>
          <a:noFill/>
          <a:ln/>
        </p:spPr>
        <p:txBody>
          <a:bodyPr wrap="square" lIns="0" tIns="0" rIns="0" bIns="0" rtlCol="0" anchor="t"/>
          <a:lstStyle/>
          <a:p>
            <a:pPr marL="0" indent="0" algn="ctr">
              <a:buNone/>
            </a:pPr>
            <a:r>
              <a:rPr lang="en-US" sz="1400" dirty="0">
                <a:solidFill>
                  <a:schemeClr val="tx2"/>
                </a:solidFill>
              </a:rPr>
              <a:t>clip cap (not in the paper)</a:t>
            </a:r>
            <a:endParaRPr lang="en-US" sz="1400" dirty="0"/>
          </a:p>
        </p:txBody>
      </p:sp>
      <p:sp>
        <p:nvSpPr>
          <p:cNvPr id="16" name="Text 13"/>
          <p:cNvSpPr txBox="1"/>
          <p:nvPr/>
        </p:nvSpPr>
        <p:spPr>
          <a:xfrm>
            <a:off x="457200" y="3657600"/>
            <a:ext cx="8229600" cy="365760"/>
          </a:xfrm>
          <a:prstGeom prst="rect">
            <a:avLst/>
          </a:prstGeom>
          <a:noFill/>
          <a:ln/>
        </p:spPr>
        <p:txBody>
          <a:bodyPr wrap="square" lIns="0" tIns="0" rIns="0" bIns="0" rtlCol="0" anchor="ctr"/>
          <a:lstStyle/>
          <a:p>
            <a:pPr marL="0" indent="0">
              <a:buNone/>
            </a:pPr>
            <a:r>
              <a:rPr lang="en-US" sz="1400" dirty="0">
                <a:solidFill>
                  <a:schemeClr val="accent6"/>
                </a:solidFill>
              </a:rPr>
              <a:t>Public domain audiobook clips  ·  keithito.com/LJ-Speech-Dataset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Text preprocessing</a:t>
            </a:r>
            <a:endParaRPr lang="en-US" sz="3000" dirty="0"/>
          </a:p>
        </p:txBody>
      </p:sp>
      <p:sp>
        <p:nvSpPr>
          <p:cNvPr id="4" name="chip"/>
          <p:cNvSpPr/>
          <p:nvPr/>
        </p:nvSpPr>
        <p:spPr>
          <a:xfrm>
            <a:off x="457200" y="1371600"/>
            <a:ext cx="1737360" cy="1005840"/>
          </a:xfrm>
          <a:prstGeom prst="roundRect">
            <a:avLst>
              <a:gd name="adj" fmla="val 9091"/>
            </a:avLst>
          </a:prstGeom>
          <a:solidFill>
            <a:schemeClr val="bg2"/>
          </a:solidFill>
          <a:ln w="12700">
            <a:solidFill>
              <a:schemeClr val="bg2"/>
            </a:solidFill>
            <a:prstDash val="solid"/>
          </a:ln>
        </p:spPr>
      </p:sp>
      <p:sp>
        <p:nvSpPr>
          <p:cNvPr id="5" name="Text 2"/>
          <p:cNvSpPr txBox="1"/>
          <p:nvPr/>
        </p:nvSpPr>
        <p:spPr>
          <a:xfrm>
            <a:off x="457200" y="1371600"/>
            <a:ext cx="1737360" cy="1005840"/>
          </a:xfrm>
          <a:prstGeom prst="rect">
            <a:avLst/>
          </a:prstGeom>
          <a:noFill/>
          <a:ln/>
        </p:spPr>
        <p:txBody>
          <a:bodyPr wrap="square" lIns="50800" tIns="50800" rIns="50800" bIns="50800" rtlCol="0" anchor="ctr"/>
          <a:lstStyle/>
          <a:p>
            <a:pPr marL="0" indent="0" algn="ctr">
              <a:buNone/>
            </a:pPr>
            <a:r>
              <a:rPr lang="en-US" sz="1400" dirty="0">
                <a:solidFill>
                  <a:schemeClr val="tx2"/>
                </a:solidFill>
              </a:rPr>
              <a:t>Words</a:t>
            </a:r>
            <a:endParaRPr lang="en-US" sz="1400" dirty="0"/>
          </a:p>
          <a:p>
            <a:pPr marL="0" indent="0" algn="ctr">
              <a:buNone/>
            </a:pPr>
            <a:r>
              <a:rPr lang="en-US" sz="1400" dirty="0">
                <a:solidFill>
                  <a:schemeClr val="tx2"/>
                </a:solidFill>
              </a:rPr>
              <a:t>(CMU dictionary)</a:t>
            </a:r>
            <a:endParaRPr lang="en-US" sz="1400" dirty="0"/>
          </a:p>
        </p:txBody>
      </p:sp>
      <p:sp>
        <p:nvSpPr>
          <p:cNvPr id="6" name="Text 3"/>
          <p:cNvSpPr txBox="1"/>
          <p:nvPr/>
        </p:nvSpPr>
        <p:spPr>
          <a:xfrm>
            <a:off x="2176272" y="164592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7" name="chip"/>
          <p:cNvSpPr/>
          <p:nvPr/>
        </p:nvSpPr>
        <p:spPr>
          <a:xfrm>
            <a:off x="2560320" y="1371600"/>
            <a:ext cx="1737360" cy="1005840"/>
          </a:xfrm>
          <a:prstGeom prst="roundRect">
            <a:avLst>
              <a:gd name="adj" fmla="val 9091"/>
            </a:avLst>
          </a:prstGeom>
          <a:solidFill>
            <a:schemeClr val="accent1"/>
          </a:solidFill>
          <a:ln w="12700">
            <a:solidFill>
              <a:schemeClr val="accent1"/>
            </a:solidFill>
            <a:prstDash val="solid"/>
          </a:ln>
        </p:spPr>
      </p:sp>
      <p:sp>
        <p:nvSpPr>
          <p:cNvPr id="8" name="Text 5"/>
          <p:cNvSpPr txBox="1"/>
          <p:nvPr/>
        </p:nvSpPr>
        <p:spPr>
          <a:xfrm>
            <a:off x="2560320" y="1371600"/>
            <a:ext cx="1737360" cy="1005840"/>
          </a:xfrm>
          <a:prstGeom prst="rect">
            <a:avLst/>
          </a:prstGeom>
          <a:noFill/>
          <a:ln/>
        </p:spPr>
        <p:txBody>
          <a:bodyPr wrap="square" lIns="50800" tIns="50800" rIns="50800" bIns="50800" rtlCol="0" anchor="ctr"/>
          <a:lstStyle/>
          <a:p>
            <a:pPr marL="0" indent="0" algn="ctr">
              <a:buNone/>
            </a:pPr>
            <a:r>
              <a:rPr lang="en-US" sz="1400" b="1" dirty="0">
                <a:solidFill>
                  <a:schemeClr val="bg1"/>
                </a:solidFill>
              </a:rPr>
              <a:t>Per word: phonemes or letters (p = 0.5)</a:t>
            </a:r>
            <a:endParaRPr lang="en-US" sz="1400" dirty="0"/>
          </a:p>
        </p:txBody>
      </p:sp>
      <p:sp>
        <p:nvSpPr>
          <p:cNvPr id="9" name="Text 6"/>
          <p:cNvSpPr txBox="1"/>
          <p:nvPr/>
        </p:nvSpPr>
        <p:spPr>
          <a:xfrm>
            <a:off x="4279392" y="164592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0" name="chip"/>
          <p:cNvSpPr/>
          <p:nvPr/>
        </p:nvSpPr>
        <p:spPr>
          <a:xfrm>
            <a:off x="4663440" y="1371600"/>
            <a:ext cx="1737360" cy="1005840"/>
          </a:xfrm>
          <a:prstGeom prst="roundRect">
            <a:avLst>
              <a:gd name="adj" fmla="val 9091"/>
            </a:avLst>
          </a:prstGeom>
          <a:solidFill>
            <a:schemeClr val="bg2"/>
          </a:solidFill>
          <a:ln w="12700">
            <a:solidFill>
              <a:schemeClr val="bg2"/>
            </a:solidFill>
            <a:prstDash val="solid"/>
          </a:ln>
        </p:spPr>
      </p:sp>
      <p:sp>
        <p:nvSpPr>
          <p:cNvPr id="11" name="Text 8"/>
          <p:cNvSpPr txBox="1"/>
          <p:nvPr/>
        </p:nvSpPr>
        <p:spPr>
          <a:xfrm>
            <a:off x="4663440" y="1371600"/>
            <a:ext cx="1737360" cy="1005840"/>
          </a:xfrm>
          <a:prstGeom prst="rect">
            <a:avLst/>
          </a:prstGeom>
          <a:noFill/>
          <a:ln/>
        </p:spPr>
        <p:txBody>
          <a:bodyPr wrap="square" lIns="50800" tIns="50800" rIns="50800" bIns="50800" rtlCol="0" anchor="ctr"/>
          <a:lstStyle/>
          <a:p>
            <a:pPr marL="0" indent="0" algn="ctr">
              <a:buNone/>
            </a:pPr>
            <a:r>
              <a:rPr lang="en-US" sz="1400" dirty="0">
                <a:solidFill>
                  <a:schemeClr val="tx2"/>
                </a:solidFill>
              </a:rPr>
              <a:t>Integer IDs</a:t>
            </a:r>
            <a:endParaRPr lang="en-US" sz="1400" dirty="0"/>
          </a:p>
          <a:p>
            <a:pPr marL="0" indent="0" algn="ctr">
              <a:buNone/>
            </a:pPr>
            <a:r>
              <a:rPr lang="en-US" sz="1400" dirty="0">
                <a:solidFill>
                  <a:schemeClr val="tx2"/>
                </a:solidFill>
              </a:rPr>
              <a:t>(vocab 73)</a:t>
            </a:r>
            <a:endParaRPr lang="en-US" sz="1400" dirty="0"/>
          </a:p>
        </p:txBody>
      </p:sp>
      <p:sp>
        <p:nvSpPr>
          <p:cNvPr id="12" name="Text 9"/>
          <p:cNvSpPr txBox="1"/>
          <p:nvPr/>
        </p:nvSpPr>
        <p:spPr>
          <a:xfrm>
            <a:off x="6382512" y="164592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3" name="chip"/>
          <p:cNvSpPr/>
          <p:nvPr/>
        </p:nvSpPr>
        <p:spPr>
          <a:xfrm>
            <a:off x="6766560" y="1371600"/>
            <a:ext cx="1737360" cy="1005840"/>
          </a:xfrm>
          <a:prstGeom prst="roundRect">
            <a:avLst>
              <a:gd name="adj" fmla="val 9091"/>
            </a:avLst>
          </a:prstGeom>
          <a:solidFill>
            <a:schemeClr val="bg2"/>
          </a:solidFill>
          <a:ln w="12700">
            <a:solidFill>
              <a:schemeClr val="bg2"/>
            </a:solidFill>
            <a:prstDash val="solid"/>
          </a:ln>
        </p:spPr>
      </p:sp>
      <p:sp>
        <p:nvSpPr>
          <p:cNvPr id="14" name="Text 11"/>
          <p:cNvSpPr txBox="1"/>
          <p:nvPr/>
        </p:nvSpPr>
        <p:spPr>
          <a:xfrm>
            <a:off x="6766560" y="1371600"/>
            <a:ext cx="1737360" cy="1005840"/>
          </a:xfrm>
          <a:prstGeom prst="rect">
            <a:avLst/>
          </a:prstGeom>
          <a:noFill/>
          <a:ln/>
        </p:spPr>
        <p:txBody>
          <a:bodyPr wrap="square" lIns="50800" tIns="50800" rIns="50800" bIns="50800" rtlCol="0" anchor="ctr"/>
          <a:lstStyle/>
          <a:p>
            <a:pPr marL="0" indent="0" algn="ctr">
              <a:buNone/>
            </a:pPr>
            <a:r>
              <a:rPr lang="en-US" sz="1400" dirty="0">
                <a:solidFill>
                  <a:schemeClr val="tx2"/>
                </a:solidFill>
              </a:rPr>
              <a:t>Zero-pad to longest sentence</a:t>
            </a:r>
            <a:endParaRPr lang="en-US" sz="1400" dirty="0"/>
          </a:p>
        </p:txBody>
      </p:sp>
      <p:sp>
        <p:nvSpPr>
          <p:cNvPr id="15" name="Text 12"/>
          <p:cNvSpPr txBox="1"/>
          <p:nvPr/>
        </p:nvSpPr>
        <p:spPr>
          <a:xfrm>
            <a:off x="457200" y="2788920"/>
            <a:ext cx="8229600" cy="411480"/>
          </a:xfrm>
          <a:prstGeom prst="rect">
            <a:avLst/>
          </a:prstGeom>
          <a:noFill/>
          <a:ln/>
        </p:spPr>
        <p:txBody>
          <a:bodyPr wrap="square" lIns="0" tIns="0" rIns="0" bIns="0" rtlCol="0" anchor="ctr"/>
          <a:lstStyle/>
          <a:p>
            <a:pPr marL="0" indent="0">
              <a:buNone/>
            </a:pPr>
            <a:r>
              <a:rPr lang="en-US" sz="1600" b="1" dirty="0">
                <a:solidFill>
                  <a:schemeClr val="tx2"/>
                </a:solidFill>
              </a:rPr>
              <a:t>Example: </a:t>
            </a:r>
            <a:r>
              <a:rPr lang="en-US" sz="1600" dirty="0">
                <a:solidFill>
                  <a:schemeClr val="tx2"/>
                </a:solidFill>
                <a:latin typeface="Courier New" pitchFamily="34" charset="0"/>
                <a:ea typeface="Courier New" pitchFamily="34" charset="-122"/>
                <a:cs typeface="Courier New" pitchFamily="34" charset="-120"/>
              </a:rPr>
              <a:t>“bit”  →  @B @IH @T   or   b i t</a:t>
            </a:r>
            <a:endParaRPr lang="en-US" sz="1600" dirty="0"/>
          </a:p>
        </p:txBody>
      </p:sp>
      <p:sp>
        <p:nvSpPr>
          <p:cNvPr id="16" name="Text 13"/>
          <p:cNvSpPr txBox="1"/>
          <p:nvPr/>
        </p:nvSpPr>
        <p:spPr>
          <a:xfrm>
            <a:off x="457200" y="3291840"/>
            <a:ext cx="8229600" cy="411480"/>
          </a:xfrm>
          <a:prstGeom prst="rect">
            <a:avLst/>
          </a:prstGeom>
          <a:noFill/>
          <a:ln/>
        </p:spPr>
        <p:txBody>
          <a:bodyPr wrap="square" lIns="0" tIns="0" rIns="0" bIns="0" rtlCol="0" anchor="ctr"/>
          <a:lstStyle/>
          <a:p>
            <a:pPr marL="0" indent="0">
              <a:buNone/>
            </a:pPr>
            <a:r>
              <a:rPr lang="en-US" sz="1600" b="1" dirty="0">
                <a:solidFill>
                  <a:schemeClr val="tx2"/>
                </a:solidFill>
              </a:rPr>
              <a:t>Output: </a:t>
            </a:r>
            <a:r>
              <a:rPr lang="en-US" sz="1600" dirty="0">
                <a:solidFill>
                  <a:schemeClr val="tx2"/>
                </a:solidFill>
              </a:rPr>
              <a:t>X = 220 sentences × 88 symbols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Audio preprocessing</a:t>
            </a:r>
            <a:endParaRPr lang="en-US" sz="3000" dirty="0"/>
          </a:p>
        </p:txBody>
      </p:sp>
      <p:sp>
        <p:nvSpPr>
          <p:cNvPr id="4" name="chip"/>
          <p:cNvSpPr/>
          <p:nvPr/>
        </p:nvSpPr>
        <p:spPr>
          <a:xfrm>
            <a:off x="457200" y="1143000"/>
            <a:ext cx="1737360" cy="594360"/>
          </a:xfrm>
          <a:prstGeom prst="roundRect">
            <a:avLst>
              <a:gd name="adj" fmla="val 15385"/>
            </a:avLst>
          </a:prstGeom>
          <a:solidFill>
            <a:schemeClr val="bg2"/>
          </a:solidFill>
          <a:ln w="12700">
            <a:solidFill>
              <a:schemeClr val="bg2"/>
            </a:solidFill>
            <a:prstDash val="solid"/>
          </a:ln>
        </p:spPr>
      </p:sp>
      <p:sp>
        <p:nvSpPr>
          <p:cNvPr id="5" name="Text 2"/>
          <p:cNvSpPr txBox="1"/>
          <p:nvPr/>
        </p:nvSpPr>
        <p:spPr>
          <a:xfrm>
            <a:off x="457200" y="1143000"/>
            <a:ext cx="1737360" cy="594360"/>
          </a:xfrm>
          <a:prstGeom prst="rect">
            <a:avLst/>
          </a:prstGeom>
          <a:noFill/>
          <a:ln/>
        </p:spPr>
        <p:txBody>
          <a:bodyPr wrap="square" lIns="50800" tIns="50800" rIns="50800" bIns="50800" rtlCol="0" anchor="ctr"/>
          <a:lstStyle/>
          <a:p>
            <a:pPr marL="0" indent="0" algn="ctr">
              <a:buNone/>
            </a:pPr>
            <a:r>
              <a:rPr lang="en-US" sz="1300" dirty="0">
                <a:solidFill>
                  <a:schemeClr val="tx2"/>
                </a:solidFill>
              </a:rPr>
              <a:t>FIR filter</a:t>
            </a:r>
            <a:endParaRPr lang="en-US" sz="1300" dirty="0"/>
          </a:p>
        </p:txBody>
      </p:sp>
      <p:sp>
        <p:nvSpPr>
          <p:cNvPr id="6" name="Text 3"/>
          <p:cNvSpPr txBox="1"/>
          <p:nvPr/>
        </p:nvSpPr>
        <p:spPr>
          <a:xfrm>
            <a:off x="2176272" y="1207008"/>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7" name="chip"/>
          <p:cNvSpPr/>
          <p:nvPr/>
        </p:nvSpPr>
        <p:spPr>
          <a:xfrm>
            <a:off x="2560320" y="1143000"/>
            <a:ext cx="1737360" cy="594360"/>
          </a:xfrm>
          <a:prstGeom prst="roundRect">
            <a:avLst>
              <a:gd name="adj" fmla="val 15385"/>
            </a:avLst>
          </a:prstGeom>
          <a:solidFill>
            <a:schemeClr val="bg2"/>
          </a:solidFill>
          <a:ln w="12700">
            <a:solidFill>
              <a:schemeClr val="bg2"/>
            </a:solidFill>
            <a:prstDash val="solid"/>
          </a:ln>
        </p:spPr>
      </p:sp>
      <p:sp>
        <p:nvSpPr>
          <p:cNvPr id="8" name="Text 5"/>
          <p:cNvSpPr txBox="1"/>
          <p:nvPr/>
        </p:nvSpPr>
        <p:spPr>
          <a:xfrm>
            <a:off x="2560320" y="1143000"/>
            <a:ext cx="1737360" cy="594360"/>
          </a:xfrm>
          <a:prstGeom prst="rect">
            <a:avLst/>
          </a:prstGeom>
          <a:noFill/>
          <a:ln/>
        </p:spPr>
        <p:txBody>
          <a:bodyPr wrap="square" lIns="50800" tIns="50800" rIns="50800" bIns="50800" rtlCol="0" anchor="ctr"/>
          <a:lstStyle/>
          <a:p>
            <a:pPr marL="0" indent="0" algn="ctr">
              <a:buNone/>
            </a:pPr>
            <a:r>
              <a:rPr lang="en-US" sz="1300" dirty="0">
                <a:solidFill>
                  <a:schemeClr val="tx2"/>
                </a:solidFill>
              </a:rPr>
              <a:t>STFT (2048 pt)</a:t>
            </a:r>
            <a:endParaRPr lang="en-US" sz="1300" dirty="0"/>
          </a:p>
        </p:txBody>
      </p:sp>
      <p:sp>
        <p:nvSpPr>
          <p:cNvPr id="9" name="Text 6"/>
          <p:cNvSpPr txBox="1"/>
          <p:nvPr/>
        </p:nvSpPr>
        <p:spPr>
          <a:xfrm>
            <a:off x="4279392" y="1207008"/>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0" name="chip"/>
          <p:cNvSpPr/>
          <p:nvPr/>
        </p:nvSpPr>
        <p:spPr>
          <a:xfrm>
            <a:off x="4663440" y="1143000"/>
            <a:ext cx="1737360" cy="594360"/>
          </a:xfrm>
          <a:prstGeom prst="roundRect">
            <a:avLst>
              <a:gd name="adj" fmla="val 15385"/>
            </a:avLst>
          </a:prstGeom>
          <a:solidFill>
            <a:schemeClr val="accent1"/>
          </a:solidFill>
          <a:ln w="12700">
            <a:solidFill>
              <a:schemeClr val="accent1"/>
            </a:solidFill>
            <a:prstDash val="solid"/>
          </a:ln>
        </p:spPr>
      </p:sp>
      <p:sp>
        <p:nvSpPr>
          <p:cNvPr id="11" name="Text 8"/>
          <p:cNvSpPr txBox="1"/>
          <p:nvPr/>
        </p:nvSpPr>
        <p:spPr>
          <a:xfrm>
            <a:off x="4663440" y="1143000"/>
            <a:ext cx="1737360" cy="594360"/>
          </a:xfrm>
          <a:prstGeom prst="rect">
            <a:avLst/>
          </a:prstGeom>
          <a:noFill/>
          <a:ln/>
        </p:spPr>
        <p:txBody>
          <a:bodyPr wrap="square" lIns="50800" tIns="50800" rIns="50800" bIns="50800" rtlCol="0" anchor="ctr"/>
          <a:lstStyle/>
          <a:p>
            <a:pPr marL="0" indent="0" algn="ctr">
              <a:buNone/>
            </a:pPr>
            <a:r>
              <a:rPr lang="en-US" sz="1300" b="1" dirty="0">
                <a:solidFill>
                  <a:schemeClr val="bg1"/>
                </a:solidFill>
              </a:rPr>
              <a:t>1025 bins, magnitude only</a:t>
            </a:r>
            <a:endParaRPr lang="en-US" sz="1300" dirty="0"/>
          </a:p>
        </p:txBody>
      </p:sp>
      <p:sp>
        <p:nvSpPr>
          <p:cNvPr id="12" name="Text 9"/>
          <p:cNvSpPr txBox="1"/>
          <p:nvPr/>
        </p:nvSpPr>
        <p:spPr>
          <a:xfrm>
            <a:off x="6382512" y="1207008"/>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3" name="chip"/>
          <p:cNvSpPr/>
          <p:nvPr/>
        </p:nvSpPr>
        <p:spPr>
          <a:xfrm>
            <a:off x="6766560" y="1143000"/>
            <a:ext cx="1737360" cy="594360"/>
          </a:xfrm>
          <a:prstGeom prst="roundRect">
            <a:avLst>
              <a:gd name="adj" fmla="val 15385"/>
            </a:avLst>
          </a:prstGeom>
          <a:solidFill>
            <a:schemeClr val="bg2"/>
          </a:solidFill>
          <a:ln w="12700">
            <a:solidFill>
              <a:schemeClr val="bg2"/>
            </a:solidFill>
            <a:prstDash val="solid"/>
          </a:ln>
        </p:spPr>
      </p:sp>
      <p:sp>
        <p:nvSpPr>
          <p:cNvPr id="14" name="Text 11"/>
          <p:cNvSpPr txBox="1"/>
          <p:nvPr/>
        </p:nvSpPr>
        <p:spPr>
          <a:xfrm>
            <a:off x="6766560" y="1143000"/>
            <a:ext cx="1737360" cy="594360"/>
          </a:xfrm>
          <a:prstGeom prst="rect">
            <a:avLst/>
          </a:prstGeom>
          <a:noFill/>
          <a:ln/>
        </p:spPr>
        <p:txBody>
          <a:bodyPr wrap="square" lIns="50800" tIns="50800" rIns="50800" bIns="50800" rtlCol="0" anchor="ctr"/>
          <a:lstStyle/>
          <a:p>
            <a:pPr marL="0" indent="0" algn="ctr">
              <a:buNone/>
            </a:pPr>
            <a:r>
              <a:rPr lang="en-US" sz="1300" dirty="0">
                <a:solidFill>
                  <a:schemeClr val="tx2"/>
                </a:solidFill>
              </a:rPr>
              <a:t>Zero-pad to 109 frames</a:t>
            </a:r>
            <a:endParaRPr lang="en-US" sz="1300" dirty="0"/>
          </a:p>
        </p:txBody>
      </p:sp>
      <p:pic>
        <p:nvPicPr>
          <p:cNvPr id="15" name="Image 0" descr="Waveform and spectrogram before and after the FIR filter"/>
          <p:cNvPicPr>
            <a:picLocks noChangeAspect="1"/>
          </p:cNvPicPr>
          <p:nvPr/>
        </p:nvPicPr>
        <p:blipFill>
          <a:blip r:embed="rId3"/>
          <a:stretch>
            <a:fillRect/>
          </a:stretch>
        </p:blipFill>
        <p:spPr>
          <a:xfrm>
            <a:off x="457200" y="1965960"/>
            <a:ext cx="5486400" cy="2261006"/>
          </a:xfrm>
          <a:prstGeom prst="rect">
            <a:avLst/>
          </a:prstGeom>
        </p:spPr>
      </p:pic>
      <p:sp>
        <p:nvSpPr>
          <p:cNvPr id="16" name="Text 12"/>
          <p:cNvSpPr txBox="1"/>
          <p:nvPr/>
        </p:nvSpPr>
        <p:spPr>
          <a:xfrm>
            <a:off x="457200" y="4297680"/>
            <a:ext cx="5486400" cy="274320"/>
          </a:xfrm>
          <a:prstGeom prst="rect">
            <a:avLst/>
          </a:prstGeom>
          <a:noFill/>
          <a:ln/>
        </p:spPr>
        <p:txBody>
          <a:bodyPr wrap="square" lIns="0" tIns="0" rIns="0" bIns="0" rtlCol="0" anchor="ctr"/>
          <a:lstStyle/>
          <a:p>
            <a:pPr marL="0" indent="0">
              <a:buNone/>
            </a:pPr>
            <a:r>
              <a:rPr lang="en-US" sz="1100" dirty="0">
                <a:solidFill>
                  <a:schemeClr val="accent6"/>
                </a:solidFill>
              </a:rPr>
              <a:t>Before / after FIR filter (notebook Figure 1)</a:t>
            </a:r>
            <a:endParaRPr lang="en-US" sz="1100" dirty="0"/>
          </a:p>
        </p:txBody>
      </p:sp>
      <p:sp>
        <p:nvSpPr>
          <p:cNvPr id="17" name="Text 13"/>
          <p:cNvSpPr txBox="1"/>
          <p:nvPr/>
        </p:nvSpPr>
        <p:spPr>
          <a:xfrm>
            <a:off x="6217920" y="2103120"/>
            <a:ext cx="246888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Y = 220 × 109 × 1025</a:t>
            </a:r>
            <a:endParaRPr lang="en-US" sz="1400" dirty="0"/>
          </a:p>
          <a:p>
            <a:pPr marL="342900" indent="-342900">
              <a:spcAft>
                <a:spcPts val="800"/>
              </a:spcAft>
              <a:buSzPct val="100000"/>
              <a:buChar char="•"/>
            </a:pPr>
            <a:r>
              <a:rPr lang="en-US" sz="1400" dirty="0">
                <a:solidFill>
                  <a:schemeClr val="tx2"/>
                </a:solidFill>
              </a:rPr>
              <a:t>Raw amplitude, no log scaling</a:t>
            </a:r>
            <a:endParaRPr lang="en-US" sz="1400" dirty="0"/>
          </a:p>
          <a:p>
            <a:pPr marL="342900" indent="-342900">
              <a:spcAft>
                <a:spcPts val="800"/>
              </a:spcAft>
              <a:buSzPct val="100000"/>
              <a:buChar char="•"/>
            </a:pPr>
            <a:r>
              <a:rPr lang="en-US" sz="1400" dirty="0">
                <a:solidFill>
                  <a:schemeClr val="tx2"/>
                </a:solidFill>
              </a:rPr>
              <a:t>Max 0.199, mean 0.00026</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Three models</a:t>
            </a:r>
            <a:endParaRPr lang="en-US" sz="3000" dirty="0"/>
          </a:p>
        </p:txBody>
      </p:sp>
      <p:sp>
        <p:nvSpPr>
          <p:cNvPr id="4" name="Shape 1"/>
          <p:cNvSpPr/>
          <p:nvPr/>
        </p:nvSpPr>
        <p:spPr>
          <a:xfrm>
            <a:off x="457200" y="1188720"/>
            <a:ext cx="2560320" cy="2651760"/>
          </a:xfrm>
          <a:prstGeom prst="roundRect">
            <a:avLst>
              <a:gd name="adj" fmla="val 3571"/>
            </a:avLst>
          </a:prstGeom>
          <a:solidFill>
            <a:schemeClr val="bg2"/>
          </a:solidFill>
          <a:ln w="12700">
            <a:solidFill>
              <a:schemeClr val="bg2"/>
            </a:solidFill>
            <a:prstDash val="solid"/>
          </a:ln>
        </p:spPr>
      </p:sp>
      <p:sp>
        <p:nvSpPr>
          <p:cNvPr id="5" name="Text 2"/>
          <p:cNvSpPr txBox="1"/>
          <p:nvPr/>
        </p:nvSpPr>
        <p:spPr>
          <a:xfrm>
            <a:off x="640080" y="1325880"/>
            <a:ext cx="2194560" cy="4572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SVR</a:t>
            </a:r>
            <a:endParaRPr lang="en-US" sz="2000" dirty="0"/>
          </a:p>
        </p:txBody>
      </p:sp>
      <p:sp>
        <p:nvSpPr>
          <p:cNvPr id="6" name="Text 3"/>
          <p:cNvSpPr txBox="1"/>
          <p:nvPr/>
        </p:nvSpPr>
        <p:spPr>
          <a:xfrm>
            <a:off x="640080" y="1874520"/>
            <a:ext cx="21945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One poly-kernel SVR per time step and bin</a:t>
            </a:r>
            <a:endParaRPr lang="en-US" sz="1400" dirty="0"/>
          </a:p>
          <a:p>
            <a:pPr marL="342900" indent="-342900">
              <a:spcAft>
                <a:spcPts val="800"/>
              </a:spcAft>
              <a:buSzPct val="100000"/>
              <a:buChar char="•"/>
            </a:pPr>
            <a:r>
              <a:rPr lang="en-US" sz="1400" dirty="0">
                <a:solidFill>
                  <a:schemeClr val="tx2"/>
                </a:solidFill>
              </a:rPr>
              <a:t>scikit-learn defaults</a:t>
            </a:r>
            <a:endParaRPr lang="en-US" sz="1400" dirty="0"/>
          </a:p>
          <a:p>
            <a:pPr marL="342900" indent="-342900">
              <a:spcAft>
                <a:spcPts val="800"/>
              </a:spcAft>
              <a:buSzPct val="100000"/>
              <a:buChar char="•"/>
            </a:pPr>
            <a:r>
              <a:rPr lang="en-US" sz="1400" dirty="0">
                <a:solidFill>
                  <a:schemeClr val="tx2"/>
                </a:solidFill>
              </a:rPr>
              <a:t>CPU only, slow</a:t>
            </a:r>
            <a:endParaRPr lang="en-US" sz="1400" dirty="0"/>
          </a:p>
        </p:txBody>
      </p:sp>
      <p:sp>
        <p:nvSpPr>
          <p:cNvPr id="7" name="Shape 4"/>
          <p:cNvSpPr/>
          <p:nvPr/>
        </p:nvSpPr>
        <p:spPr>
          <a:xfrm>
            <a:off x="3291840" y="1188720"/>
            <a:ext cx="2560320" cy="2651760"/>
          </a:xfrm>
          <a:prstGeom prst="roundRect">
            <a:avLst>
              <a:gd name="adj" fmla="val 3571"/>
            </a:avLst>
          </a:prstGeom>
          <a:solidFill>
            <a:schemeClr val="bg2"/>
          </a:solidFill>
          <a:ln w="12700">
            <a:solidFill>
              <a:schemeClr val="bg2"/>
            </a:solidFill>
            <a:prstDash val="solid"/>
          </a:ln>
        </p:spPr>
      </p:sp>
      <p:sp>
        <p:nvSpPr>
          <p:cNvPr id="8" name="Text 5"/>
          <p:cNvSpPr txBox="1"/>
          <p:nvPr/>
        </p:nvSpPr>
        <p:spPr>
          <a:xfrm>
            <a:off x="3474720" y="1325880"/>
            <a:ext cx="2194560" cy="4572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Simple NN</a:t>
            </a:r>
            <a:endParaRPr lang="en-US" sz="2000" dirty="0"/>
          </a:p>
        </p:txBody>
      </p:sp>
      <p:sp>
        <p:nvSpPr>
          <p:cNvPr id="9" name="Text 6"/>
          <p:cNvSpPr txBox="1"/>
          <p:nvPr/>
        </p:nvSpPr>
        <p:spPr>
          <a:xfrm>
            <a:off x="3474720" y="1874520"/>
            <a:ext cx="21945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Embedding → Flatten → Dense (sigmoid)</a:t>
            </a:r>
            <a:endParaRPr lang="en-US" sz="1400" dirty="0"/>
          </a:p>
          <a:p>
            <a:pPr marL="342900" indent="-342900">
              <a:spcAft>
                <a:spcPts val="800"/>
              </a:spcAft>
              <a:buSzPct val="100000"/>
              <a:buChar char="•"/>
            </a:pPr>
            <a:r>
              <a:rPr lang="en-US" sz="1400" dirty="0">
                <a:solidFill>
                  <a:schemeClr val="tx2"/>
                </a:solidFill>
              </a:rPr>
              <a:t>Output: T × 1025, stretched</a:t>
            </a:r>
            <a:endParaRPr lang="en-US" sz="1400" dirty="0"/>
          </a:p>
          <a:p>
            <a:pPr marL="342900" indent="-342900">
              <a:spcAft>
                <a:spcPts val="800"/>
              </a:spcAft>
              <a:buSzPct val="100000"/>
              <a:buChar char="•"/>
            </a:pPr>
            <a:r>
              <a:rPr lang="en-US" sz="1400" dirty="0">
                <a:solidFill>
                  <a:schemeClr val="tx2"/>
                </a:solidFill>
              </a:rPr>
              <a:t>39.6 M parameters</a:t>
            </a:r>
            <a:endParaRPr lang="en-US" sz="1400" dirty="0"/>
          </a:p>
        </p:txBody>
      </p:sp>
      <p:sp>
        <p:nvSpPr>
          <p:cNvPr id="10" name="Shape 7"/>
          <p:cNvSpPr/>
          <p:nvPr/>
        </p:nvSpPr>
        <p:spPr>
          <a:xfrm>
            <a:off x="6126480" y="1188720"/>
            <a:ext cx="2560320" cy="2651760"/>
          </a:xfrm>
          <a:prstGeom prst="roundRect">
            <a:avLst>
              <a:gd name="adj" fmla="val 3571"/>
            </a:avLst>
          </a:prstGeom>
          <a:solidFill>
            <a:schemeClr val="bg2"/>
          </a:solidFill>
          <a:ln w="12700">
            <a:solidFill>
              <a:schemeClr val="bg2"/>
            </a:solidFill>
            <a:prstDash val="solid"/>
          </a:ln>
        </p:spPr>
      </p:sp>
      <p:sp>
        <p:nvSpPr>
          <p:cNvPr id="11" name="Text 8"/>
          <p:cNvSpPr txBox="1"/>
          <p:nvPr/>
        </p:nvSpPr>
        <p:spPr>
          <a:xfrm>
            <a:off x="6309360" y="1325880"/>
            <a:ext cx="219456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Seq2Seq</a:t>
            </a:r>
            <a:endParaRPr lang="en-US" sz="2000" dirty="0"/>
          </a:p>
        </p:txBody>
      </p:sp>
      <p:sp>
        <p:nvSpPr>
          <p:cNvPr id="12" name="Text 9"/>
          <p:cNvSpPr txBox="1"/>
          <p:nvPr/>
        </p:nvSpPr>
        <p:spPr>
          <a:xfrm>
            <a:off x="6309360" y="1874520"/>
            <a:ext cx="21945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Bidirectional LSTM encoder (512)</a:t>
            </a:r>
            <a:endParaRPr lang="en-US" sz="1400" dirty="0"/>
          </a:p>
          <a:p>
            <a:pPr marL="342900" indent="-342900">
              <a:spcAft>
                <a:spcPts val="800"/>
              </a:spcAft>
              <a:buSzPct val="100000"/>
              <a:buChar char="•"/>
            </a:pPr>
            <a:r>
              <a:rPr lang="en-US" sz="1400" dirty="0">
                <a:solidFill>
                  <a:schemeClr val="tx2"/>
                </a:solidFill>
              </a:rPr>
              <a:t>LSTM decoder with attention</a:t>
            </a:r>
            <a:endParaRPr lang="en-US" sz="1400" dirty="0"/>
          </a:p>
          <a:p>
            <a:pPr marL="342900" indent="-342900">
              <a:spcAft>
                <a:spcPts val="800"/>
              </a:spcAft>
              <a:buSzPct val="100000"/>
              <a:buChar char="•"/>
            </a:pPr>
            <a:r>
              <a:rPr lang="en-US" sz="1400" dirty="0">
                <a:solidFill>
                  <a:schemeClr val="tx2"/>
                </a:solidFill>
              </a:rPr>
              <a:t>Generates frame by frame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Postprocessing: spectrogram to wav</a:t>
            </a:r>
            <a:endParaRPr lang="en-US" sz="3000" dirty="0"/>
          </a:p>
        </p:txBody>
      </p:sp>
      <p:sp>
        <p:nvSpPr>
          <p:cNvPr id="4" name="chip"/>
          <p:cNvSpPr/>
          <p:nvPr/>
        </p:nvSpPr>
        <p:spPr>
          <a:xfrm>
            <a:off x="457200" y="1371600"/>
            <a:ext cx="1737360" cy="822960"/>
          </a:xfrm>
          <a:prstGeom prst="roundRect">
            <a:avLst>
              <a:gd name="adj" fmla="val 11111"/>
            </a:avLst>
          </a:prstGeom>
          <a:solidFill>
            <a:schemeClr val="bg2"/>
          </a:solidFill>
          <a:ln w="12700">
            <a:solidFill>
              <a:schemeClr val="bg2"/>
            </a:solidFill>
            <a:prstDash val="solid"/>
          </a:ln>
        </p:spPr>
      </p:sp>
      <p:sp>
        <p:nvSpPr>
          <p:cNvPr id="5" name="Text 2"/>
          <p:cNvSpPr txBox="1"/>
          <p:nvPr/>
        </p:nvSpPr>
        <p:spPr>
          <a:xfrm>
            <a:off x="457200" y="1371600"/>
            <a:ext cx="1737360" cy="822960"/>
          </a:xfrm>
          <a:prstGeom prst="rect">
            <a:avLst/>
          </a:prstGeom>
          <a:noFill/>
          <a:ln/>
        </p:spPr>
        <p:txBody>
          <a:bodyPr wrap="square" lIns="50800" tIns="50800" rIns="50800" bIns="50800" rtlCol="0" anchor="ctr"/>
          <a:lstStyle/>
          <a:p>
            <a:pPr marL="0" indent="0" algn="ctr">
              <a:buNone/>
            </a:pPr>
            <a:r>
              <a:rPr lang="en-US" sz="1400" dirty="0">
                <a:solidFill>
                  <a:schemeClr val="tx2"/>
                </a:solidFill>
              </a:rPr>
              <a:t>Predicted magnitude</a:t>
            </a:r>
            <a:endParaRPr lang="en-US" sz="1400" dirty="0"/>
          </a:p>
        </p:txBody>
      </p:sp>
      <p:sp>
        <p:nvSpPr>
          <p:cNvPr id="6" name="Text 3"/>
          <p:cNvSpPr txBox="1"/>
          <p:nvPr/>
        </p:nvSpPr>
        <p:spPr>
          <a:xfrm>
            <a:off x="2176272" y="155448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7" name="chip"/>
          <p:cNvSpPr/>
          <p:nvPr/>
        </p:nvSpPr>
        <p:spPr>
          <a:xfrm>
            <a:off x="2560320" y="1371600"/>
            <a:ext cx="1737360" cy="822960"/>
          </a:xfrm>
          <a:prstGeom prst="roundRect">
            <a:avLst>
              <a:gd name="adj" fmla="val 11111"/>
            </a:avLst>
          </a:prstGeom>
          <a:solidFill>
            <a:schemeClr val="accent2"/>
          </a:solidFill>
          <a:ln w="12700">
            <a:solidFill>
              <a:schemeClr val="accent2"/>
            </a:solidFill>
            <a:prstDash val="solid"/>
          </a:ln>
        </p:spPr>
      </p:sp>
      <p:sp>
        <p:nvSpPr>
          <p:cNvPr id="8" name="Text 5"/>
          <p:cNvSpPr txBox="1"/>
          <p:nvPr/>
        </p:nvSpPr>
        <p:spPr>
          <a:xfrm>
            <a:off x="2560320" y="1371600"/>
            <a:ext cx="1737360" cy="822960"/>
          </a:xfrm>
          <a:prstGeom prst="rect">
            <a:avLst/>
          </a:prstGeom>
          <a:noFill/>
          <a:ln/>
        </p:spPr>
        <p:txBody>
          <a:bodyPr wrap="square" lIns="50800" tIns="50800" rIns="50800" bIns="50800" rtlCol="0" anchor="ctr"/>
          <a:lstStyle/>
          <a:p>
            <a:pPr marL="0" indent="0" algn="ctr">
              <a:buNone/>
            </a:pPr>
            <a:r>
              <a:rPr lang="en-US" sz="1400" b="1" dirty="0">
                <a:solidFill>
                  <a:schemeClr val="tx2"/>
                </a:solidFill>
              </a:rPr>
              <a:t>Inverse STFT (zero phase)</a:t>
            </a:r>
            <a:endParaRPr lang="en-US" sz="1400" dirty="0"/>
          </a:p>
        </p:txBody>
      </p:sp>
      <p:sp>
        <p:nvSpPr>
          <p:cNvPr id="9" name="Text 6"/>
          <p:cNvSpPr txBox="1"/>
          <p:nvPr/>
        </p:nvSpPr>
        <p:spPr>
          <a:xfrm>
            <a:off x="4279392" y="155448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0" name="chip"/>
          <p:cNvSpPr/>
          <p:nvPr/>
        </p:nvSpPr>
        <p:spPr>
          <a:xfrm>
            <a:off x="4663440" y="1371600"/>
            <a:ext cx="1737360" cy="822960"/>
          </a:xfrm>
          <a:prstGeom prst="roundRect">
            <a:avLst>
              <a:gd name="adj" fmla="val 11111"/>
            </a:avLst>
          </a:prstGeom>
          <a:solidFill>
            <a:schemeClr val="bg2"/>
          </a:solidFill>
          <a:ln w="12700">
            <a:solidFill>
              <a:schemeClr val="bg2"/>
            </a:solidFill>
            <a:prstDash val="solid"/>
          </a:ln>
        </p:spPr>
      </p:sp>
      <p:sp>
        <p:nvSpPr>
          <p:cNvPr id="11" name="Text 8"/>
          <p:cNvSpPr txBox="1"/>
          <p:nvPr/>
        </p:nvSpPr>
        <p:spPr>
          <a:xfrm>
            <a:off x="4663440" y="1371600"/>
            <a:ext cx="1737360" cy="822960"/>
          </a:xfrm>
          <a:prstGeom prst="rect">
            <a:avLst/>
          </a:prstGeom>
          <a:noFill/>
          <a:ln/>
        </p:spPr>
        <p:txBody>
          <a:bodyPr wrap="square" lIns="50800" tIns="50800" rIns="50800" bIns="50800" rtlCol="0" anchor="ctr"/>
          <a:lstStyle/>
          <a:p>
            <a:pPr marL="0" indent="0" algn="ctr">
              <a:buNone/>
            </a:pPr>
            <a:r>
              <a:rPr lang="en-US" sz="1400" dirty="0">
                <a:solidFill>
                  <a:schemeClr val="tx2"/>
                </a:solidFill>
              </a:rPr>
              <a:t>Inverse FIR</a:t>
            </a:r>
            <a:endParaRPr lang="en-US" sz="1400" dirty="0"/>
          </a:p>
        </p:txBody>
      </p:sp>
      <p:sp>
        <p:nvSpPr>
          <p:cNvPr id="12" name="Text 9"/>
          <p:cNvSpPr txBox="1"/>
          <p:nvPr/>
        </p:nvSpPr>
        <p:spPr>
          <a:xfrm>
            <a:off x="6382512" y="1554480"/>
            <a:ext cx="384048"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3" name="chip"/>
          <p:cNvSpPr/>
          <p:nvPr/>
        </p:nvSpPr>
        <p:spPr>
          <a:xfrm>
            <a:off x="6766560" y="1371600"/>
            <a:ext cx="1737360" cy="822960"/>
          </a:xfrm>
          <a:prstGeom prst="roundRect">
            <a:avLst>
              <a:gd name="adj" fmla="val 11111"/>
            </a:avLst>
          </a:prstGeom>
          <a:solidFill>
            <a:schemeClr val="bg2"/>
          </a:solidFill>
          <a:ln w="12700">
            <a:solidFill>
              <a:schemeClr val="bg2"/>
            </a:solidFill>
            <a:prstDash val="solid"/>
          </a:ln>
        </p:spPr>
      </p:sp>
      <p:sp>
        <p:nvSpPr>
          <p:cNvPr id="14" name="Text 11"/>
          <p:cNvSpPr txBox="1"/>
          <p:nvPr/>
        </p:nvSpPr>
        <p:spPr>
          <a:xfrm>
            <a:off x="6766560" y="1371600"/>
            <a:ext cx="1737360" cy="822960"/>
          </a:xfrm>
          <a:prstGeom prst="rect">
            <a:avLst/>
          </a:prstGeom>
          <a:noFill/>
          <a:ln/>
        </p:spPr>
        <p:txBody>
          <a:bodyPr wrap="square" lIns="50800" tIns="50800" rIns="50800" bIns="50800" rtlCol="0" anchor="ctr"/>
          <a:lstStyle/>
          <a:p>
            <a:pPr marL="0" indent="0" algn="ctr">
              <a:buNone/>
            </a:pPr>
            <a:r>
              <a:rPr lang="en-US" sz="1400" dirty="0">
                <a:solidFill>
                  <a:schemeClr val="tx2"/>
                </a:solidFill>
              </a:rPr>
              <a:t>Normalise, save wav</a:t>
            </a:r>
            <a:endParaRPr lang="en-US" sz="1400" dirty="0"/>
          </a:p>
        </p:txBody>
      </p:sp>
      <p:sp>
        <p:nvSpPr>
          <p:cNvPr id="15" name="Shape 12"/>
          <p:cNvSpPr/>
          <p:nvPr/>
        </p:nvSpPr>
        <p:spPr>
          <a:xfrm>
            <a:off x="457200" y="2743200"/>
            <a:ext cx="8229600" cy="1371600"/>
          </a:xfrm>
          <a:prstGeom prst="roundRect">
            <a:avLst>
              <a:gd name="adj" fmla="val 6667"/>
            </a:avLst>
          </a:prstGeom>
          <a:solidFill>
            <a:schemeClr val="tx2"/>
          </a:solidFill>
          <a:ln w="12700">
            <a:solidFill>
              <a:schemeClr val="tx2"/>
            </a:solidFill>
            <a:prstDash val="solid"/>
          </a:ln>
        </p:spPr>
      </p:sp>
      <p:sp>
        <p:nvSpPr>
          <p:cNvPr id="16" name="Text 13"/>
          <p:cNvSpPr txBox="1"/>
          <p:nvPr/>
        </p:nvSpPr>
        <p:spPr>
          <a:xfrm>
            <a:off x="731520" y="2834640"/>
            <a:ext cx="7680960" cy="1188720"/>
          </a:xfrm>
          <a:prstGeom prst="rect">
            <a:avLst/>
          </a:prstGeom>
          <a:noFill/>
          <a:ln/>
        </p:spPr>
        <p:txBody>
          <a:bodyPr wrap="square" lIns="0" tIns="0" rIns="0" bIns="0" rtlCol="0" anchor="ctr"/>
          <a:lstStyle/>
          <a:p>
            <a:pPr marL="0" indent="0">
              <a:buNone/>
            </a:pPr>
            <a:r>
              <a:rPr lang="en-US" sz="1800" b="1" dirty="0">
                <a:solidFill>
                  <a:schemeClr val="bg1"/>
                </a:solidFill>
              </a:rPr>
              <a:t>Zero phase makes everything sound robotic.</a:t>
            </a:r>
            <a:endParaRPr lang="en-US" sz="1800" dirty="0"/>
          </a:p>
          <a:p>
            <a:pPr marL="0" indent="0">
              <a:buNone/>
            </a:pPr>
            <a:r>
              <a:rPr lang="en-US" sz="1800" dirty="0">
                <a:solidFill>
                  <a:schemeClr val="bg1"/>
                </a:solidFill>
              </a:rPr>
              <a:t>Even the ground-truth reconstruction is buzzy: that is the best this pipeline can do.</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Results: spectrograms, loss and MOS</a:t>
            </a:r>
            <a:endParaRPr lang="en-US" sz="3000" dirty="0"/>
          </a:p>
        </p:txBody>
      </p:sp>
      <p:pic>
        <p:nvPicPr>
          <p:cNvPr id="4" name="Image 0" descr="Spectrograms: real, SVR, NN, Seq2Seq"/>
          <p:cNvPicPr>
            <a:picLocks noChangeAspect="1"/>
          </p:cNvPicPr>
          <p:nvPr/>
        </p:nvPicPr>
        <p:blipFill>
          <a:blip r:embed="rId3"/>
          <a:stretch>
            <a:fillRect/>
          </a:stretch>
        </p:blipFill>
        <p:spPr>
          <a:xfrm>
            <a:off x="457200" y="1005840"/>
            <a:ext cx="8229600" cy="1287312"/>
          </a:xfrm>
          <a:prstGeom prst="rect">
            <a:avLst/>
          </a:prstGeom>
        </p:spPr>
      </p:pic>
      <p:sp>
        <p:nvSpPr>
          <p:cNvPr id="5" name="Text 1"/>
          <p:cNvSpPr txBox="1"/>
          <p:nvPr/>
        </p:nvSpPr>
        <p:spPr>
          <a:xfrm>
            <a:off x="457200" y="2331720"/>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Real vs SVR vs NN vs Seq2Seq (training sentence)</a:t>
            </a:r>
            <a:endParaRPr lang="en-US" sz="1100" dirty="0"/>
          </a:p>
        </p:txBody>
      </p:sp>
      <p:pic>
        <p:nvPicPr>
          <p:cNvPr id="6" name="Image 1" descr="Training loss of NN and Seq2Seq"/>
          <p:cNvPicPr>
            <a:picLocks noChangeAspect="1"/>
          </p:cNvPicPr>
          <p:nvPr/>
        </p:nvPicPr>
        <p:blipFill>
          <a:blip r:embed="rId4"/>
          <a:stretch>
            <a:fillRect/>
          </a:stretch>
        </p:blipFill>
        <p:spPr>
          <a:xfrm>
            <a:off x="457200" y="2697480"/>
            <a:ext cx="2926080" cy="1397137"/>
          </a:xfrm>
          <a:prstGeom prst="rect">
            <a:avLst/>
          </a:prstGeom>
        </p:spPr>
      </p:pic>
      <p:sp>
        <p:nvSpPr>
          <p:cNvPr id="7" name="Text 2"/>
          <p:cNvSpPr txBox="1"/>
          <p:nvPr/>
        </p:nvSpPr>
        <p:spPr>
          <a:xfrm>
            <a:off x="457200" y="4114800"/>
            <a:ext cx="2926080" cy="274320"/>
          </a:xfrm>
          <a:prstGeom prst="rect">
            <a:avLst/>
          </a:prstGeom>
          <a:noFill/>
          <a:ln/>
        </p:spPr>
        <p:txBody>
          <a:bodyPr wrap="square" lIns="0" tIns="0" rIns="0" bIns="0" rtlCol="0" anchor="ctr"/>
          <a:lstStyle/>
          <a:p>
            <a:pPr marL="0" indent="0">
              <a:buNone/>
            </a:pPr>
            <a:r>
              <a:rPr lang="en-US" sz="1100" dirty="0">
                <a:solidFill>
                  <a:schemeClr val="accent6"/>
                </a:solidFill>
              </a:rPr>
              <a:t>Training loss (MSE) per epoch</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0" y="2697480"/>
          <a:ext cx="5029200" cy="1316736"/>
        </p:xfrm>
        <a:graphic>
          <a:graphicData uri="http://schemas.openxmlformats.org/drawingml/2006/table">
            <a:tbl>
              <a:tblPr/>
              <a:tblGrid>
                <a:gridCol w="12801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29184">
                <a:tc>
                  <a:txBody>
                    <a:bodyPr/>
                    <a:lstStyle/>
                    <a:p>
                      <a:pPr marL="0" indent="0" algn="ctr">
                        <a:buNone/>
                      </a:pPr>
                      <a:r>
                        <a:rPr lang="en-US" sz="1300" b="1" dirty="0">
                          <a:solidFill>
                            <a:schemeClr val="bg1"/>
                          </a:solidFill>
                        </a:rPr>
                        <a:t>Model</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Paper MOS</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Our MOS</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Std</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Listeners</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lgn="l">
                        <a:buNone/>
                      </a:pPr>
                      <a:r>
                        <a:rPr lang="en-US" sz="1300" b="1" dirty="0">
                          <a:solidFill>
                            <a:schemeClr val="tx1"/>
                          </a:solidFill>
                        </a:rPr>
                        <a:t>SVR</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1.0</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1.0</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0.00</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5</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00" b="1" dirty="0">
                          <a:solidFill>
                            <a:schemeClr val="tx1"/>
                          </a:solidFill>
                        </a:rPr>
                        <a:t>NN</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1.7</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1.4</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0.49</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5</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300" b="1" dirty="0">
                          <a:solidFill>
                            <a:schemeClr val="tx1"/>
                          </a:solidFill>
                        </a:rPr>
                        <a:t>Seq2Seq</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2.5</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1.6</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0.49</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rPr>
                        <a:t>5</a:t>
                      </a:r>
                      <a:endParaRPr lang="en-US" sz="1300" dirty="0"/>
                    </a:p>
                  </a:txBody>
                  <a:tcP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3"/>
          <p:cNvSpPr txBox="1"/>
          <p:nvPr/>
        </p:nvSpPr>
        <p:spPr>
          <a:xfrm>
            <a:off x="3657600" y="4114800"/>
            <a:ext cx="5029200" cy="365760"/>
          </a:xfrm>
          <a:prstGeom prst="rect">
            <a:avLst/>
          </a:prstGeom>
          <a:noFill/>
          <a:ln/>
        </p:spPr>
        <p:txBody>
          <a:bodyPr wrap="square" lIns="0" tIns="0" rIns="0" bIns="0" rtlCol="0" anchor="ctr"/>
          <a:lstStyle/>
          <a:p>
            <a:pPr marL="0" indent="0">
              <a:buNone/>
            </a:pPr>
            <a:r>
              <a:rPr lang="en-US" sz="1300" i="1" dirty="0">
                <a:solidFill>
                  <a:schemeClr val="accent6"/>
                </a:solidFill>
              </a:rPr>
              <a:t>Same ordering as the paper; with 5 listeners the gaps are small.</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Discussion: why each model failed</a:t>
            </a:r>
            <a:endParaRPr lang="en-US" sz="3000" dirty="0"/>
          </a:p>
        </p:txBody>
      </p:sp>
      <p:graphicFrame>
        <p:nvGraphicFramePr>
          <p:cNvPr id="4" name="Chart 0"/>
          <p:cNvGraphicFramePr/>
          <p:nvPr/>
        </p:nvGraphicFramePr>
        <p:xfrm>
          <a:off x="457200" y="1143000"/>
          <a:ext cx="39319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457200" y="4160520"/>
            <a:ext cx="3931920" cy="320040"/>
          </a:xfrm>
          <a:prstGeom prst="rect">
            <a:avLst/>
          </a:prstGeom>
          <a:noFill/>
          <a:ln/>
        </p:spPr>
        <p:txBody>
          <a:bodyPr wrap="square" lIns="0" tIns="0" rIns="0" bIns="0" rtlCol="0" anchor="ctr"/>
          <a:lstStyle/>
          <a:p>
            <a:pPr marL="0" indent="0">
              <a:buNone/>
            </a:pPr>
            <a:r>
              <a:rPr lang="en-US" sz="1200" dirty="0">
                <a:solidFill>
                  <a:schemeClr val="accent6"/>
                </a:solidFill>
              </a:rPr>
              <a:t>No model beats predicting all zeros</a:t>
            </a:r>
            <a:endParaRPr lang="en-US" sz="1200" dirty="0"/>
          </a:p>
        </p:txBody>
      </p:sp>
      <p:sp>
        <p:nvSpPr>
          <p:cNvPr id="6" name="Shape 2"/>
          <p:cNvSpPr/>
          <p:nvPr/>
        </p:nvSpPr>
        <p:spPr>
          <a:xfrm>
            <a:off x="4572000" y="1188720"/>
            <a:ext cx="4114800" cy="685800"/>
          </a:xfrm>
          <a:prstGeom prst="roundRect">
            <a:avLst>
              <a:gd name="adj" fmla="val 13333"/>
            </a:avLst>
          </a:prstGeom>
          <a:solidFill>
            <a:schemeClr val="bg2"/>
          </a:solidFill>
          <a:ln w="12700">
            <a:solidFill>
              <a:schemeClr val="bg2"/>
            </a:solidFill>
            <a:prstDash val="solid"/>
          </a:ln>
        </p:spPr>
      </p:sp>
      <p:sp>
        <p:nvSpPr>
          <p:cNvPr id="7" name="Text 3"/>
          <p:cNvSpPr txBox="1"/>
          <p:nvPr/>
        </p:nvSpPr>
        <p:spPr>
          <a:xfrm>
            <a:off x="4663440" y="1188720"/>
            <a:ext cx="914400" cy="685800"/>
          </a:xfrm>
          <a:prstGeom prst="rect">
            <a:avLst/>
          </a:prstGeom>
          <a:noFill/>
          <a:ln/>
        </p:spPr>
        <p:txBody>
          <a:bodyPr wrap="square" lIns="0" tIns="0" rIns="0" bIns="0" rtlCol="0" anchor="ctr"/>
          <a:lstStyle/>
          <a:p>
            <a:pPr marL="0" indent="0">
              <a:buNone/>
            </a:pPr>
            <a:r>
              <a:rPr lang="en-US" sz="1400" b="1" dirty="0">
                <a:solidFill>
                  <a:schemeClr val="accent1"/>
                </a:solidFill>
              </a:rPr>
              <a:t>SVR</a:t>
            </a:r>
            <a:endParaRPr lang="en-US" sz="1400" dirty="0"/>
          </a:p>
        </p:txBody>
      </p:sp>
      <p:sp>
        <p:nvSpPr>
          <p:cNvPr id="8" name="Text 4"/>
          <p:cNvSpPr txBox="1"/>
          <p:nvPr/>
        </p:nvSpPr>
        <p:spPr>
          <a:xfrm>
            <a:off x="5577840" y="1188720"/>
            <a:ext cx="3017520" cy="685800"/>
          </a:xfrm>
          <a:prstGeom prst="rect">
            <a:avLst/>
          </a:prstGeom>
          <a:noFill/>
          <a:ln/>
        </p:spPr>
        <p:txBody>
          <a:bodyPr wrap="square" lIns="0" tIns="0" rIns="0" bIns="0" rtlCol="0" anchor="ctr"/>
          <a:lstStyle/>
          <a:p>
            <a:pPr marL="0" indent="0">
              <a:buNone/>
            </a:pPr>
            <a:r>
              <a:rPr lang="en-US" sz="1300" dirty="0">
                <a:solidFill>
                  <a:schemeClr val="tx2"/>
                </a:solidFill>
              </a:rPr>
              <a:t>Near-constant output: default ε is larger than the amplitudes</a:t>
            </a:r>
            <a:endParaRPr lang="en-US" sz="1300" dirty="0"/>
          </a:p>
        </p:txBody>
      </p:sp>
      <p:sp>
        <p:nvSpPr>
          <p:cNvPr id="9" name="Shape 5"/>
          <p:cNvSpPr/>
          <p:nvPr/>
        </p:nvSpPr>
        <p:spPr>
          <a:xfrm>
            <a:off x="4572000" y="1984248"/>
            <a:ext cx="4114800" cy="685800"/>
          </a:xfrm>
          <a:prstGeom prst="roundRect">
            <a:avLst>
              <a:gd name="adj" fmla="val 13333"/>
            </a:avLst>
          </a:prstGeom>
          <a:solidFill>
            <a:schemeClr val="bg2"/>
          </a:solidFill>
          <a:ln w="12700">
            <a:solidFill>
              <a:schemeClr val="bg2"/>
            </a:solidFill>
            <a:prstDash val="solid"/>
          </a:ln>
        </p:spPr>
      </p:sp>
      <p:sp>
        <p:nvSpPr>
          <p:cNvPr id="10" name="Text 6"/>
          <p:cNvSpPr txBox="1"/>
          <p:nvPr/>
        </p:nvSpPr>
        <p:spPr>
          <a:xfrm>
            <a:off x="4663440" y="1984248"/>
            <a:ext cx="914400" cy="685800"/>
          </a:xfrm>
          <a:prstGeom prst="rect">
            <a:avLst/>
          </a:prstGeom>
          <a:noFill/>
          <a:ln/>
        </p:spPr>
        <p:txBody>
          <a:bodyPr wrap="square" lIns="0" tIns="0" rIns="0" bIns="0" rtlCol="0" anchor="ctr"/>
          <a:lstStyle/>
          <a:p>
            <a:pPr marL="0" indent="0">
              <a:buNone/>
            </a:pPr>
            <a:r>
              <a:rPr lang="en-US" sz="1400" b="1" dirty="0">
                <a:solidFill>
                  <a:schemeClr val="accent1"/>
                </a:solidFill>
              </a:rPr>
              <a:t>NN</a:t>
            </a:r>
            <a:endParaRPr lang="en-US" sz="1400" dirty="0"/>
          </a:p>
        </p:txBody>
      </p:sp>
      <p:sp>
        <p:nvSpPr>
          <p:cNvPr id="11" name="Text 7"/>
          <p:cNvSpPr txBox="1"/>
          <p:nvPr/>
        </p:nvSpPr>
        <p:spPr>
          <a:xfrm>
            <a:off x="5577840" y="1984248"/>
            <a:ext cx="3017520" cy="685800"/>
          </a:xfrm>
          <a:prstGeom prst="rect">
            <a:avLst/>
          </a:prstGeom>
          <a:noFill/>
          <a:ln/>
        </p:spPr>
        <p:txBody>
          <a:bodyPr wrap="square" lIns="0" tIns="0" rIns="0" bIns="0" rtlCol="0" anchor="ctr"/>
          <a:lstStyle/>
          <a:p>
            <a:pPr marL="0" indent="0">
              <a:buNone/>
            </a:pPr>
            <a:r>
              <a:rPr lang="en-US" sz="1300" dirty="0">
                <a:solidFill>
                  <a:schemeClr val="tx2"/>
                </a:solidFill>
              </a:rPr>
              <a:t>Smears toward an average spectrum</a:t>
            </a:r>
            <a:endParaRPr lang="en-US" sz="1300" dirty="0"/>
          </a:p>
        </p:txBody>
      </p:sp>
      <p:sp>
        <p:nvSpPr>
          <p:cNvPr id="12" name="Shape 8"/>
          <p:cNvSpPr/>
          <p:nvPr/>
        </p:nvSpPr>
        <p:spPr>
          <a:xfrm>
            <a:off x="4572000" y="2779776"/>
            <a:ext cx="4114800" cy="685800"/>
          </a:xfrm>
          <a:prstGeom prst="roundRect">
            <a:avLst>
              <a:gd name="adj" fmla="val 13333"/>
            </a:avLst>
          </a:prstGeom>
          <a:solidFill>
            <a:schemeClr val="bg2"/>
          </a:solidFill>
          <a:ln w="12700">
            <a:solidFill>
              <a:schemeClr val="bg2"/>
            </a:solidFill>
            <a:prstDash val="solid"/>
          </a:ln>
        </p:spPr>
      </p:sp>
      <p:sp>
        <p:nvSpPr>
          <p:cNvPr id="13" name="Text 9"/>
          <p:cNvSpPr txBox="1"/>
          <p:nvPr/>
        </p:nvSpPr>
        <p:spPr>
          <a:xfrm>
            <a:off x="4663440" y="2779776"/>
            <a:ext cx="914400" cy="685800"/>
          </a:xfrm>
          <a:prstGeom prst="rect">
            <a:avLst/>
          </a:prstGeom>
          <a:noFill/>
          <a:ln/>
        </p:spPr>
        <p:txBody>
          <a:bodyPr wrap="square" lIns="0" tIns="0" rIns="0" bIns="0" rtlCol="0" anchor="ctr"/>
          <a:lstStyle/>
          <a:p>
            <a:pPr marL="0" indent="0">
              <a:buNone/>
            </a:pPr>
            <a:r>
              <a:rPr lang="en-US" sz="1400" b="1" dirty="0">
                <a:solidFill>
                  <a:schemeClr val="accent1"/>
                </a:solidFill>
              </a:rPr>
              <a:t>Seq2Seq</a:t>
            </a:r>
            <a:endParaRPr lang="en-US" sz="1400" dirty="0"/>
          </a:p>
        </p:txBody>
      </p:sp>
      <p:sp>
        <p:nvSpPr>
          <p:cNvPr id="14" name="Text 10"/>
          <p:cNvSpPr txBox="1"/>
          <p:nvPr/>
        </p:nvSpPr>
        <p:spPr>
          <a:xfrm>
            <a:off x="5577840" y="2779776"/>
            <a:ext cx="3017520" cy="685800"/>
          </a:xfrm>
          <a:prstGeom prst="rect">
            <a:avLst/>
          </a:prstGeom>
          <a:noFill/>
          <a:ln/>
        </p:spPr>
        <p:txBody>
          <a:bodyPr wrap="square" lIns="0" tIns="0" rIns="0" bIns="0" rtlCol="0" anchor="ctr"/>
          <a:lstStyle/>
          <a:p>
            <a:pPr marL="0" indent="0">
              <a:buNone/>
            </a:pPr>
            <a:r>
              <a:rPr lang="en-US" sz="1300" dirty="0">
                <a:solidFill>
                  <a:schemeClr val="tx2"/>
                </a:solidFill>
              </a:rPr>
              <a:t>Feeds its output back and loops, giving a repeating beat</a:t>
            </a:r>
            <a:endParaRPr lang="en-US" sz="1300" dirty="0"/>
          </a:p>
        </p:txBody>
      </p:sp>
      <p:sp>
        <p:nvSpPr>
          <p:cNvPr id="15" name="Shape 11"/>
          <p:cNvSpPr/>
          <p:nvPr/>
        </p:nvSpPr>
        <p:spPr>
          <a:xfrm>
            <a:off x="4572000" y="3575304"/>
            <a:ext cx="4114800" cy="685800"/>
          </a:xfrm>
          <a:prstGeom prst="roundRect">
            <a:avLst>
              <a:gd name="adj" fmla="val 13333"/>
            </a:avLst>
          </a:prstGeom>
          <a:solidFill>
            <a:schemeClr val="bg2"/>
          </a:solidFill>
          <a:ln w="12700">
            <a:solidFill>
              <a:schemeClr val="bg2"/>
            </a:solidFill>
            <a:prstDash val="solid"/>
          </a:ln>
        </p:spPr>
      </p:sp>
      <p:sp>
        <p:nvSpPr>
          <p:cNvPr id="16" name="Text 12"/>
          <p:cNvSpPr txBox="1"/>
          <p:nvPr/>
        </p:nvSpPr>
        <p:spPr>
          <a:xfrm>
            <a:off x="4663440" y="3575304"/>
            <a:ext cx="914400" cy="685800"/>
          </a:xfrm>
          <a:prstGeom prst="rect">
            <a:avLst/>
          </a:prstGeom>
          <a:noFill/>
          <a:ln/>
        </p:spPr>
        <p:txBody>
          <a:bodyPr wrap="square" lIns="0" tIns="0" rIns="0" bIns="0" rtlCol="0" anchor="ctr"/>
          <a:lstStyle/>
          <a:p>
            <a:pPr marL="0" indent="0">
              <a:buNone/>
            </a:pPr>
            <a:r>
              <a:rPr lang="en-US" sz="1400" b="1" dirty="0">
                <a:solidFill>
                  <a:schemeClr val="accent4"/>
                </a:solidFill>
              </a:rPr>
              <a:t>All</a:t>
            </a:r>
            <a:endParaRPr lang="en-US" sz="1400" dirty="0"/>
          </a:p>
        </p:txBody>
      </p:sp>
      <p:sp>
        <p:nvSpPr>
          <p:cNvPr id="17" name="Text 13"/>
          <p:cNvSpPr txBox="1"/>
          <p:nvPr/>
        </p:nvSpPr>
        <p:spPr>
          <a:xfrm>
            <a:off x="5577840" y="3575304"/>
            <a:ext cx="3017520" cy="685800"/>
          </a:xfrm>
          <a:prstGeom prst="rect">
            <a:avLst/>
          </a:prstGeom>
          <a:noFill/>
          <a:ln/>
        </p:spPr>
        <p:txBody>
          <a:bodyPr wrap="square" lIns="0" tIns="0" rIns="0" bIns="0" rtlCol="0" anchor="ctr"/>
          <a:lstStyle/>
          <a:p>
            <a:pPr marL="0" indent="0">
              <a:buNone/>
            </a:pPr>
            <a:r>
              <a:rPr lang="en-US" sz="1300" dirty="0">
                <a:solidFill>
                  <a:schemeClr val="tx2"/>
                </a:solidFill>
              </a:rPr>
              <a:t>Magnitude only: phase is lost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Differences from the paper and assumptions</a:t>
            </a:r>
            <a:endParaRPr lang="en-US" sz="3000" dirty="0"/>
          </a:p>
        </p:txBody>
      </p:sp>
      <p:sp>
        <p:nvSpPr>
          <p:cNvPr id="4" name="Shape 1"/>
          <p:cNvSpPr/>
          <p:nvPr/>
        </p:nvSpPr>
        <p:spPr>
          <a:xfrm>
            <a:off x="457200" y="1188720"/>
            <a:ext cx="4023360" cy="2651760"/>
          </a:xfrm>
          <a:prstGeom prst="roundRect">
            <a:avLst>
              <a:gd name="adj" fmla="val 3448"/>
            </a:avLst>
          </a:prstGeom>
          <a:solidFill>
            <a:schemeClr val="bg2"/>
          </a:solidFill>
          <a:ln w="12700">
            <a:solidFill>
              <a:schemeClr val="bg2"/>
            </a:solidFill>
            <a:prstDash val="solid"/>
          </a:ln>
        </p:spPr>
      </p:sp>
      <p:sp>
        <p:nvSpPr>
          <p:cNvPr id="5" name="Text 2"/>
          <p:cNvSpPr txBox="1"/>
          <p:nvPr/>
        </p:nvSpPr>
        <p:spPr>
          <a:xfrm>
            <a:off x="685800" y="1325880"/>
            <a:ext cx="3566160" cy="457200"/>
          </a:xfrm>
          <a:prstGeom prst="rect">
            <a:avLst/>
          </a:prstGeom>
          <a:noFill/>
          <a:ln/>
        </p:spPr>
        <p:txBody>
          <a:bodyPr wrap="square" lIns="0" tIns="0" rIns="0" bIns="0" rtlCol="0" anchor="ctr"/>
          <a:lstStyle/>
          <a:p>
            <a:pPr marL="0" indent="0">
              <a:buNone/>
            </a:pPr>
            <a:r>
              <a:rPr lang="en-US" sz="2000" b="1" dirty="0">
                <a:solidFill>
                  <a:schemeClr val="accent4"/>
                </a:solidFill>
                <a:latin typeface="Cambria" pitchFamily="34" charset="0"/>
                <a:ea typeface="Cambria" pitchFamily="34" charset="-122"/>
                <a:cs typeface="Cambria" pitchFamily="34" charset="-120"/>
              </a:rPr>
              <a:t>What we changed</a:t>
            </a:r>
            <a:endParaRPr lang="en-US" sz="2000" dirty="0"/>
          </a:p>
        </p:txBody>
      </p:sp>
      <p:sp>
        <p:nvSpPr>
          <p:cNvPr id="6" name="Text 3"/>
          <p:cNvSpPr txBox="1"/>
          <p:nvPr/>
        </p:nvSpPr>
        <p:spPr>
          <a:xfrm>
            <a:off x="685800" y="1874520"/>
            <a:ext cx="35661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Clips capped at 5 s (paper: no cap)</a:t>
            </a:r>
            <a:endParaRPr lang="en-US" sz="1400" dirty="0"/>
          </a:p>
          <a:p>
            <a:pPr marL="342900" indent="-342900">
              <a:spcAft>
                <a:spcPts val="800"/>
              </a:spcAft>
              <a:buSzPct val="100000"/>
              <a:buChar char="•"/>
            </a:pPr>
            <a:r>
              <a:rPr lang="en-US" sz="1400" dirty="0">
                <a:solidFill>
                  <a:schemeClr val="tx2"/>
                </a:solidFill>
              </a:rPr>
              <a:t>20 extra dev sentences</a:t>
            </a:r>
            <a:endParaRPr lang="en-US" sz="1400" dirty="0"/>
          </a:p>
          <a:p>
            <a:pPr marL="342900" indent="-342900">
              <a:spcAft>
                <a:spcPts val="800"/>
              </a:spcAft>
              <a:buSzPct val="100000"/>
              <a:buChar char="•"/>
            </a:pPr>
            <a:r>
              <a:rPr lang="en-US" sz="1400" dirty="0">
                <a:solidFill>
                  <a:schemeClr val="tx2"/>
                </a:solidFill>
              </a:rPr>
              <a:t>Bidirectional LSTM, as on the poster</a:t>
            </a:r>
            <a:endParaRPr lang="en-US" sz="1400" dirty="0"/>
          </a:p>
        </p:txBody>
      </p:sp>
      <p:sp>
        <p:nvSpPr>
          <p:cNvPr id="7" name="Shape 4"/>
          <p:cNvSpPr/>
          <p:nvPr/>
        </p:nvSpPr>
        <p:spPr>
          <a:xfrm>
            <a:off x="4663440" y="1188720"/>
            <a:ext cx="4023360" cy="2651760"/>
          </a:xfrm>
          <a:prstGeom prst="roundRect">
            <a:avLst>
              <a:gd name="adj" fmla="val 3448"/>
            </a:avLst>
          </a:prstGeom>
          <a:solidFill>
            <a:schemeClr val="bg2"/>
          </a:solidFill>
          <a:ln w="12700">
            <a:solidFill>
              <a:schemeClr val="bg2"/>
            </a:solidFill>
            <a:prstDash val="solid"/>
          </a:ln>
        </p:spPr>
      </p:sp>
      <p:sp>
        <p:nvSpPr>
          <p:cNvPr id="8" name="Text 5"/>
          <p:cNvSpPr txBox="1"/>
          <p:nvPr/>
        </p:nvSpPr>
        <p:spPr>
          <a:xfrm>
            <a:off x="4892040" y="1325880"/>
            <a:ext cx="356616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What we had to guess</a:t>
            </a:r>
            <a:endParaRPr lang="en-US" sz="2000" dirty="0"/>
          </a:p>
        </p:txBody>
      </p:sp>
      <p:sp>
        <p:nvSpPr>
          <p:cNvPr id="9" name="Text 6"/>
          <p:cNvSpPr txBox="1"/>
          <p:nvPr/>
        </p:nvSpPr>
        <p:spPr>
          <a:xfrm>
            <a:off x="4892040" y="1874520"/>
            <a:ext cx="35661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FIR: 101 taps, 8 kHz low-pass</a:t>
            </a:r>
            <a:endParaRPr lang="en-US" sz="1400" dirty="0"/>
          </a:p>
          <a:p>
            <a:pPr marL="342900" indent="-342900">
              <a:spcAft>
                <a:spcPts val="800"/>
              </a:spcAft>
              <a:buSzPct val="100000"/>
              <a:buChar char="•"/>
            </a:pPr>
            <a:r>
              <a:rPr lang="en-US" sz="1400" dirty="0">
                <a:solidFill>
                  <a:schemeClr val="tx2"/>
                </a:solidFill>
              </a:rPr>
              <a:t>STFT hop: scipy default (50%)</a:t>
            </a:r>
            <a:endParaRPr lang="en-US" sz="1400" dirty="0"/>
          </a:p>
          <a:p>
            <a:pPr marL="342900" indent="-342900">
              <a:spcAft>
                <a:spcPts val="800"/>
              </a:spcAft>
              <a:buSzPct val="100000"/>
              <a:buChar char="•"/>
            </a:pPr>
            <a:r>
              <a:rPr lang="en-US" sz="1400" dirty="0">
                <a:solidFill>
                  <a:schemeClr val="tx2"/>
                </a:solidFill>
              </a:rPr>
              <a:t>Phoneme probability 0.5; Adam, MSE</a:t>
            </a:r>
            <a:endParaRPr lang="en-US" sz="1400" dirty="0"/>
          </a:p>
          <a:p>
            <a:pPr marL="342900" indent="-342900">
              <a:spcAft>
                <a:spcPts val="800"/>
              </a:spcAft>
              <a:buSzPct val="100000"/>
              <a:buChar char="•"/>
            </a:pPr>
            <a:r>
              <a:rPr lang="en-US" sz="1400" dirty="0">
                <a:solidFill>
                  <a:schemeClr val="tx2"/>
                </a:solidFill>
              </a:rPr>
              <a:t>SVR: scikit-learn defaults</a:t>
            </a:r>
            <a:endParaRPr lang="en-US" sz="1400" dirty="0"/>
          </a:p>
        </p:txBody>
      </p:sp>
      <p:sp>
        <p:nvSpPr>
          <p:cNvPr id="10" name="Text 7"/>
          <p:cNvSpPr txBox="1"/>
          <p:nvPr/>
        </p:nvSpPr>
        <p:spPr>
          <a:xfrm>
            <a:off x="457200" y="4069080"/>
            <a:ext cx="8229600" cy="320040"/>
          </a:xfrm>
          <a:prstGeom prst="rect">
            <a:avLst/>
          </a:prstGeom>
          <a:noFill/>
          <a:ln/>
        </p:spPr>
        <p:txBody>
          <a:bodyPr wrap="square" lIns="0" tIns="0" rIns="0" bIns="0" rtlCol="0" anchor="ctr"/>
          <a:lstStyle/>
          <a:p>
            <a:pPr marL="0" indent="0">
              <a:buNone/>
            </a:pPr>
            <a:r>
              <a:rPr lang="en-US" sz="1300" i="1" dirty="0">
                <a:solidFill>
                  <a:schemeClr val="accent6"/>
                </a:solidFill>
              </a:rPr>
              <a:t>Small training set (200 sentences). Model ordering matches the paper; numbers do not.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731520"/>
          </a:xfrm>
          <a:prstGeom prst="rect">
            <a:avLst/>
          </a:prstGeom>
          <a:noFill/>
          <a:ln/>
        </p:spPr>
        <p:txBody>
          <a:bodyPr wrap="square" lIns="0" tIns="0" rIns="0" bIns="0" rtlCol="0" anchor="ctr"/>
          <a:lstStyle/>
          <a:p>
            <a:pPr marL="0" indent="0" algn="l">
              <a:buNone/>
            </a:pPr>
            <a:r>
              <a:rPr lang="en-US" sz="3000" b="1" dirty="0">
                <a:solidFill>
                  <a:schemeClr val="bg1"/>
                </a:solidFill>
                <a:latin typeface="Cambria" pitchFamily="34" charset="0"/>
                <a:ea typeface="Cambria" pitchFamily="34" charset="-122"/>
                <a:cs typeface="Cambria" pitchFamily="34" charset="-120"/>
              </a:rPr>
              <a:t>Conclusion and future work</a:t>
            </a:r>
            <a:endParaRPr lang="en-US" sz="3000" dirty="0"/>
          </a:p>
        </p:txBody>
      </p:sp>
      <p:sp>
        <p:nvSpPr>
          <p:cNvPr id="3" name="Text 1"/>
          <p:cNvSpPr txBox="1"/>
          <p:nvPr/>
        </p:nvSpPr>
        <p:spPr>
          <a:xfrm>
            <a:off x="548640" y="1463040"/>
            <a:ext cx="804672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bg1"/>
                </a:solidFill>
              </a:rPr>
              <a:t>Seq2Seq scored highest (1.6) but no model sounds like speech</a:t>
            </a:r>
            <a:endParaRPr lang="en-US" sz="2000" dirty="0"/>
          </a:p>
          <a:p>
            <a:pPr marL="342900" indent="-342900">
              <a:spcAft>
                <a:spcPts val="1000"/>
              </a:spcAft>
              <a:buSzPct val="100000"/>
              <a:buChar char="•"/>
            </a:pPr>
            <a:r>
              <a:rPr lang="en-US" sz="2000" dirty="0">
                <a:solidFill>
                  <a:schemeClr val="bg1"/>
                </a:solidFill>
              </a:rPr>
              <a:t>Zero phase and a small training set limit every model</a:t>
            </a:r>
            <a:endParaRPr lang="en-US" sz="2000" dirty="0"/>
          </a:p>
          <a:p>
            <a:pPr marL="342900" indent="-342900">
              <a:spcAft>
                <a:spcPts val="1000"/>
              </a:spcAft>
              <a:buSzPct val="100000"/>
              <a:buChar char="•"/>
            </a:pPr>
            <a:r>
              <a:rPr lang="en-US" sz="2000" dirty="0">
                <a:solidFill>
                  <a:schemeClr val="bg1"/>
                </a:solidFill>
              </a:rPr>
              <a:t>Next: deeper Tacotron-style model, more data, Griffin-Lim or a neural vocoder</a:t>
            </a:r>
            <a:endParaRPr lang="en-US" sz="2000" dirty="0"/>
          </a:p>
        </p:txBody>
      </p:sp>
      <p:sp>
        <p:nvSpPr>
          <p:cNvPr id="4" name="Text 2"/>
          <p:cNvSpPr txBox="1"/>
          <p:nvPr/>
        </p:nvSpPr>
        <p:spPr>
          <a:xfrm>
            <a:off x="548640" y="3474720"/>
            <a:ext cx="8046720" cy="365760"/>
          </a:xfrm>
          <a:prstGeom prst="rect">
            <a:avLst/>
          </a:prstGeom>
          <a:noFill/>
          <a:ln/>
        </p:spPr>
        <p:txBody>
          <a:bodyPr wrap="square" lIns="0" tIns="0" rIns="0" bIns="0" rtlCol="0" anchor="ctr"/>
          <a:lstStyle/>
          <a:p>
            <a:pPr marL="0" indent="0">
              <a:buNone/>
            </a:pPr>
            <a:endParaRPr lang="en-US" sz="1400" dirty="0"/>
          </a:p>
        </p:txBody>
      </p:sp>
      <p:sp>
        <p:nvSpPr>
          <p:cNvPr id="5" name="Text 3"/>
          <p:cNvSpPr txBox="1"/>
          <p:nvPr/>
        </p:nvSpPr>
        <p:spPr>
          <a:xfrm>
            <a:off x="548640" y="4023360"/>
            <a:ext cx="8046720" cy="365760"/>
          </a:xfrm>
          <a:prstGeom prst="rect">
            <a:avLst/>
          </a:prstGeom>
          <a:noFill/>
          <a:ln/>
        </p:spPr>
        <p:txBody>
          <a:bodyPr wrap="square" lIns="0" tIns="0" rIns="0" bIns="0" rtlCol="0" anchor="ctr"/>
          <a:lstStyle/>
          <a:p>
            <a:pPr marL="0" indent="0">
              <a:buNone/>
            </a:pPr>
            <a:r>
              <a:rPr lang="en-US" sz="1200" dirty="0">
                <a:solidFill>
                  <a:schemeClr val="bg2"/>
                </a:solidFill>
              </a:rPr>
              <a:t>Reference: Wang, Yang &amp; Li, “End-to-End Text to Speech Synthesis”, CS 229, Autumn 2018</a:t>
            </a:r>
            <a:endParaRPr lang="en-US" sz="1200" dirty="0"/>
          </a:p>
        </p:txBody>
      </p:sp>
    </p:spTree>
  </p:cSld>
  <p:clrMapOvr>
    <a:masterClrMapping/>
  </p:clrMapOvr>
</p:sld>
</file>

<file path=ppt/theme/theme1.xml><?xml version="1.0" encoding="utf-8"?>
<a:theme xmlns:a="http://schemas.openxmlformats.org/drawingml/2006/main" name="TTS Replication">
  <a:themeElements>
    <a:clrScheme name="TTS Replication">
      <a:dk1>
        <a:srgbClr val="1F2937"/>
      </a:dk1>
      <a:lt1>
        <a:srgbClr val="FFFFFF"/>
      </a:lt1>
      <a:dk2>
        <a:srgbClr val="14213D"/>
      </a:dk2>
      <a:lt2>
        <a:srgbClr val="EAF1F7"/>
      </a:lt2>
      <a:accent1>
        <a:srgbClr val="0FA3B1"/>
      </a:accent1>
      <a:accent2>
        <a:srgbClr val="F2A541"/>
      </a:accent2>
      <a:accent3>
        <a:srgbClr val="5B7DB1"/>
      </a:accent3>
      <a:accent4>
        <a:srgbClr val="D1495B"/>
      </a:accent4>
      <a:accent5>
        <a:srgbClr val="8AA29E"/>
      </a:accent5>
      <a:accent6>
        <a:srgbClr val="6B7A90"/>
      </a:accent6>
      <a:hlink>
        <a:srgbClr val="0FA3B1"/>
      </a:hlink>
      <a:folHlink>
        <a:srgbClr val="6B7A90"/>
      </a:folHlink>
    </a:clrScheme>
    <a:fontScheme name="TTS Replic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1112</Words>
  <Application>Microsoft Office PowerPoint</Application>
  <PresentationFormat>On-screen Show (16:9)</PresentationFormat>
  <Paragraphs>183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TTS Replication</vt:lpstr>
      <vt:lpstr>Replicating “End-to-End Text to Speech Synthesis” </vt:lpstr>
      <vt:lpstr>Motivation: speech straight from text</vt:lpstr>
      <vt:lpstr>The original paper and what we replicated</vt:lpstr>
      <vt:lpstr>Dataset: LJ Speech and our subset</vt:lpstr>
      <vt:lpstr>Text preprocessing</vt:lpstr>
      <vt:lpstr>Audio preprocessing</vt:lpstr>
      <vt:lpstr>Three models</vt:lpstr>
      <vt:lpstr>Postprocessing: spectrogram to wav</vt:lpstr>
      <vt:lpstr>Results: spectrograms, loss and MOS</vt:lpstr>
      <vt:lpstr>Discussion: why each model failed</vt:lpstr>
      <vt:lpstr>Differences from the paper and assumptions</vt:lpstr>
      <vt:lpstr>Conclusion and future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Replicating End-to-End Text to Speech Synthesis</dc:title>
  <dc:subject>PptxGenJS Presentation</dc:subject>
  <dc:creator>PptxGenJS</dc:creator>
  <cp:lastModifiedBy>sneha panini</cp:lastModifiedBy>
  <cp:revision>2</cp:revision>
  <dcterms:created xsi:type="dcterms:W3CDTF">2026-10-11T08:33:25Z</dcterms:created>
  <dcterms:modified xsi:type="dcterms:W3CDTF">2026-10-11T08:43:05Z</dcterms:modified>
</cp:coreProperties>
</file>